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autoCompressPictures="0">
  <p:sldMasterIdLst>
    <p:sldMasterId id="2147483648" r:id="rId4"/>
  </p:sldMasterIdLst>
  <p:notesMasterIdLst>
    <p:notesMasterId r:id="rId11"/>
  </p:notesMasterIdLst>
  <p:handoutMasterIdLst>
    <p:handoutMasterId r:id="rId12"/>
  </p:handoutMasterIdLst>
  <p:sldIdLst>
    <p:sldId id="257" r:id="rId5"/>
    <p:sldId id="264" r:id="rId6"/>
    <p:sldId id="289" r:id="rId7"/>
    <p:sldId id="290" r:id="rId8"/>
    <p:sldId id="291" r:id="rId9"/>
    <p:sldId id="266"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064" userDrawn="1">
          <p15:clr>
            <a:srgbClr val="A4A3A4"/>
          </p15:clr>
        </p15:guide>
        <p15:guide id="2" pos="3840" userDrawn="1">
          <p15:clr>
            <a:srgbClr val="A4A3A4"/>
          </p15:clr>
        </p15:guide>
        <p15:guide id="3" pos="456" userDrawn="1">
          <p15:clr>
            <a:srgbClr val="A4A3A4"/>
          </p15:clr>
        </p15:guide>
        <p15:guide id="4" pos="720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7BEBD8"/>
    <a:srgbClr val="8335E5"/>
    <a:srgbClr val="6B8DE1"/>
    <a:srgbClr val="6C92E1"/>
    <a:srgbClr val="6313DC"/>
    <a:srgbClr val="1E3ADA"/>
    <a:srgbClr val="030553"/>
    <a:srgbClr val="7D4BC9"/>
    <a:srgbClr val="16286E"/>
    <a:srgbClr val="6524DE"/>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548" autoAdjust="0"/>
    <p:restoredTop sz="94652" autoAdjust="0"/>
  </p:normalViewPr>
  <p:slideViewPr>
    <p:cSldViewPr snapToGrid="0" showGuides="1">
      <p:cViewPr varScale="1">
        <p:scale>
          <a:sx n="76" d="100"/>
          <a:sy n="76" d="100"/>
        </p:scale>
        <p:origin x="187" y="53"/>
      </p:cViewPr>
      <p:guideLst>
        <p:guide orient="horz" pos="2064"/>
        <p:guide pos="3840"/>
        <p:guide pos="456"/>
        <p:guide pos="7200"/>
      </p:guideLst>
    </p:cSldViewPr>
  </p:slideViewPr>
  <p:outlineViewPr>
    <p:cViewPr>
      <p:scale>
        <a:sx n="33" d="100"/>
        <a:sy n="33" d="100"/>
      </p:scale>
      <p:origin x="0" y="0"/>
    </p:cViewPr>
  </p:outlineViewPr>
  <p:notesTextViewPr>
    <p:cViewPr>
      <p:scale>
        <a:sx n="1" d="1"/>
        <a:sy n="1" d="1"/>
      </p:scale>
      <p:origin x="0" y="0"/>
    </p:cViewPr>
  </p:notesTextViewPr>
  <p:notesViewPr>
    <p:cSldViewPr snapToGrid="0" showGuides="1">
      <p:cViewPr varScale="1">
        <p:scale>
          <a:sx n="60" d="100"/>
          <a:sy n="60" d="100"/>
        </p:scale>
        <p:origin x="3187" y="43"/>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presProps" Target="presProp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handoutMaster" Target="handoutMasters/handoutMaster1.xml"/><Relationship Id="rId2" Type="http://schemas.openxmlformats.org/officeDocument/2006/relationships/customXml" Target="../customXml/item2.xml"/><Relationship Id="rId16"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notesMaster" Target="notesMasters/notesMaster1.xml"/><Relationship Id="rId5" Type="http://schemas.openxmlformats.org/officeDocument/2006/relationships/slide" Target="slides/slide1.xml"/><Relationship Id="rId15" Type="http://schemas.openxmlformats.org/officeDocument/2006/relationships/theme" Target="theme/theme1.xml"/><Relationship Id="rId10" Type="http://schemas.openxmlformats.org/officeDocument/2006/relationships/slide" Target="slides/slide6.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2AF506F9-91AB-457B-A321-BA32DFC452D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EE71BC67-B9B6-41AE-BB4E-51234F209844}"/>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519C063D-436A-410C-A490-190D73BB5D3E}" type="datetimeFigureOut">
              <a:rPr lang="en-US" smtClean="0"/>
              <a:t>4/11/2025</a:t>
            </a:fld>
            <a:endParaRPr lang="en-US" dirty="0"/>
          </a:p>
        </p:txBody>
      </p:sp>
      <p:sp>
        <p:nvSpPr>
          <p:cNvPr id="4" name="Footer Placeholder 3">
            <a:extLst>
              <a:ext uri="{FF2B5EF4-FFF2-40B4-BE49-F238E27FC236}">
                <a16:creationId xmlns:a16="http://schemas.microsoft.com/office/drawing/2014/main" id="{A0E2BB79-F5ED-4C7F-A869-D9A323F2CA07}"/>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A40207CB-184F-4400-BBE4-E0B71DE06267}"/>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328996C-DF1E-45F4-80FD-86472FDB10B8}" type="slidenum">
              <a:rPr lang="en-US" smtClean="0"/>
              <a:t>‹#›</a:t>
            </a:fld>
            <a:endParaRPr lang="en-US" dirty="0"/>
          </a:p>
        </p:txBody>
      </p:sp>
    </p:spTree>
    <p:extLst>
      <p:ext uri="{BB962C8B-B14F-4D97-AF65-F5344CB8AC3E}">
        <p14:creationId xmlns:p14="http://schemas.microsoft.com/office/powerpoint/2010/main" val="140168487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CB8BDD7-4F37-46AB-9A13-BF4D77EDD71D}" type="datetimeFigureOut">
              <a:rPr lang="en-US" smtClean="0"/>
              <a:t>4/11/2025</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DF8F48A-6110-47DA-8521-A1D1FFD22FEF}" type="slidenum">
              <a:rPr lang="en-US" smtClean="0"/>
              <a:t>‹#›</a:t>
            </a:fld>
            <a:endParaRPr lang="en-US" dirty="0"/>
          </a:p>
        </p:txBody>
      </p:sp>
    </p:spTree>
    <p:extLst>
      <p:ext uri="{BB962C8B-B14F-4D97-AF65-F5344CB8AC3E}">
        <p14:creationId xmlns:p14="http://schemas.microsoft.com/office/powerpoint/2010/main" val="345149156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DF8F48A-6110-47DA-8521-A1D1FFD22FEF}" type="slidenum">
              <a:rPr lang="en-US" smtClean="0"/>
              <a:t>1</a:t>
            </a:fld>
            <a:endParaRPr lang="en-US" dirty="0"/>
          </a:p>
        </p:txBody>
      </p:sp>
    </p:spTree>
    <p:extLst>
      <p:ext uri="{BB962C8B-B14F-4D97-AF65-F5344CB8AC3E}">
        <p14:creationId xmlns:p14="http://schemas.microsoft.com/office/powerpoint/2010/main" val="46790978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DF8F48A-6110-47DA-8521-A1D1FFD22FEF}" type="slidenum">
              <a:rPr lang="en-US" smtClean="0"/>
              <a:t>2</a:t>
            </a:fld>
            <a:endParaRPr lang="en-US" dirty="0"/>
          </a:p>
        </p:txBody>
      </p:sp>
    </p:spTree>
    <p:extLst>
      <p:ext uri="{BB962C8B-B14F-4D97-AF65-F5344CB8AC3E}">
        <p14:creationId xmlns:p14="http://schemas.microsoft.com/office/powerpoint/2010/main" val="302609330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6DF8F48A-6110-47DA-8521-A1D1FFD22FEF}" type="slidenum">
              <a:rPr lang="en-US" smtClean="0"/>
              <a:t>4</a:t>
            </a:fld>
            <a:endParaRPr lang="en-US" dirty="0"/>
          </a:p>
        </p:txBody>
      </p:sp>
    </p:spTree>
    <p:extLst>
      <p:ext uri="{BB962C8B-B14F-4D97-AF65-F5344CB8AC3E}">
        <p14:creationId xmlns:p14="http://schemas.microsoft.com/office/powerpoint/2010/main" val="288883600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DF8F48A-6110-47DA-8521-A1D1FFD22FEF}" type="slidenum">
              <a:rPr lang="en-US" smtClean="0"/>
              <a:t>6</a:t>
            </a:fld>
            <a:endParaRPr lang="en-US" dirty="0"/>
          </a:p>
        </p:txBody>
      </p:sp>
    </p:spTree>
    <p:extLst>
      <p:ext uri="{BB962C8B-B14F-4D97-AF65-F5344CB8AC3E}">
        <p14:creationId xmlns:p14="http://schemas.microsoft.com/office/powerpoint/2010/main" val="426200795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B0BBB5-FEB0-47AD-A01D-A9D3462038F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58207C41-C17D-4E84-B9CC-CA142B94C10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7245F25D-6082-47DE-9B2C-675944DD1812}"/>
              </a:ext>
            </a:extLst>
          </p:cNvPr>
          <p:cNvSpPr>
            <a:spLocks noGrp="1"/>
          </p:cNvSpPr>
          <p:nvPr>
            <p:ph type="dt" sz="half" idx="10"/>
          </p:nvPr>
        </p:nvSpPr>
        <p:spPr/>
        <p:txBody>
          <a:bodyPr/>
          <a:lstStyle/>
          <a:p>
            <a:fld id="{9294036C-9E7C-4FFC-99FA-414B61E345DD}" type="datetimeFigureOut">
              <a:rPr lang="en-US" smtClean="0"/>
              <a:t>4/11/2025</a:t>
            </a:fld>
            <a:endParaRPr lang="en-US" dirty="0"/>
          </a:p>
        </p:txBody>
      </p:sp>
      <p:sp>
        <p:nvSpPr>
          <p:cNvPr id="5" name="Footer Placeholder 4">
            <a:extLst>
              <a:ext uri="{FF2B5EF4-FFF2-40B4-BE49-F238E27FC236}">
                <a16:creationId xmlns:a16="http://schemas.microsoft.com/office/drawing/2014/main" id="{5E24B0FF-3B25-4E5C-A0A7-4E1636362153}"/>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09377007-1A01-499B-ACAD-C9F9C20B76F8}"/>
              </a:ext>
            </a:extLst>
          </p:cNvPr>
          <p:cNvSpPr>
            <a:spLocks noGrp="1"/>
          </p:cNvSpPr>
          <p:nvPr>
            <p:ph type="sldNum" sz="quarter" idx="12"/>
          </p:nvPr>
        </p:nvSpPr>
        <p:spPr/>
        <p:txBody>
          <a:bodyPr/>
          <a:lstStyle/>
          <a:p>
            <a:fld id="{ED6580AB-5C3C-4B4F-8E2A-8B7A0A8CE695}" type="slidenum">
              <a:rPr lang="en-US" smtClean="0"/>
              <a:t>‹#›</a:t>
            </a:fld>
            <a:endParaRPr lang="en-US" dirty="0"/>
          </a:p>
        </p:txBody>
      </p:sp>
    </p:spTree>
    <p:extLst>
      <p:ext uri="{BB962C8B-B14F-4D97-AF65-F5344CB8AC3E}">
        <p14:creationId xmlns:p14="http://schemas.microsoft.com/office/powerpoint/2010/main" val="116996251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DADCE2-978E-4923-B0E9-4C966B6798C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CEB0BD6-F012-4C6D-BDAD-9E90ED25A38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EE2F9E5-192C-4E88-9147-D263893B1842}"/>
              </a:ext>
            </a:extLst>
          </p:cNvPr>
          <p:cNvSpPr>
            <a:spLocks noGrp="1"/>
          </p:cNvSpPr>
          <p:nvPr>
            <p:ph type="dt" sz="half" idx="10"/>
          </p:nvPr>
        </p:nvSpPr>
        <p:spPr/>
        <p:txBody>
          <a:bodyPr/>
          <a:lstStyle/>
          <a:p>
            <a:fld id="{9294036C-9E7C-4FFC-99FA-414B61E345DD}" type="datetimeFigureOut">
              <a:rPr lang="en-US" smtClean="0"/>
              <a:t>4/11/2025</a:t>
            </a:fld>
            <a:endParaRPr lang="en-US" dirty="0"/>
          </a:p>
        </p:txBody>
      </p:sp>
      <p:sp>
        <p:nvSpPr>
          <p:cNvPr id="5" name="Footer Placeholder 4">
            <a:extLst>
              <a:ext uri="{FF2B5EF4-FFF2-40B4-BE49-F238E27FC236}">
                <a16:creationId xmlns:a16="http://schemas.microsoft.com/office/drawing/2014/main" id="{794A7138-3EAF-4C9D-903E-55D9BC040272}"/>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F8DB0B82-496D-45C3-A682-7AF9AFFB9693}"/>
              </a:ext>
            </a:extLst>
          </p:cNvPr>
          <p:cNvSpPr>
            <a:spLocks noGrp="1"/>
          </p:cNvSpPr>
          <p:nvPr>
            <p:ph type="sldNum" sz="quarter" idx="12"/>
          </p:nvPr>
        </p:nvSpPr>
        <p:spPr/>
        <p:txBody>
          <a:bodyPr/>
          <a:lstStyle/>
          <a:p>
            <a:fld id="{ED6580AB-5C3C-4B4F-8E2A-8B7A0A8CE695}" type="slidenum">
              <a:rPr lang="en-US" smtClean="0"/>
              <a:t>‹#›</a:t>
            </a:fld>
            <a:endParaRPr lang="en-US" dirty="0"/>
          </a:p>
        </p:txBody>
      </p:sp>
    </p:spTree>
    <p:extLst>
      <p:ext uri="{BB962C8B-B14F-4D97-AF65-F5344CB8AC3E}">
        <p14:creationId xmlns:p14="http://schemas.microsoft.com/office/powerpoint/2010/main" val="351512628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93DAD0-5F6F-47DA-A010-1C4A30C88AB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AC8EFA6E-A768-42A8-B2C3-F100D82609A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2F46640-E89E-47CE-984D-0C0ECF7CF529}"/>
              </a:ext>
            </a:extLst>
          </p:cNvPr>
          <p:cNvSpPr>
            <a:spLocks noGrp="1"/>
          </p:cNvSpPr>
          <p:nvPr>
            <p:ph type="dt" sz="half" idx="10"/>
          </p:nvPr>
        </p:nvSpPr>
        <p:spPr/>
        <p:txBody>
          <a:bodyPr/>
          <a:lstStyle/>
          <a:p>
            <a:fld id="{9294036C-9E7C-4FFC-99FA-414B61E345DD}" type="datetimeFigureOut">
              <a:rPr lang="en-US" smtClean="0"/>
              <a:t>4/11/2025</a:t>
            </a:fld>
            <a:endParaRPr lang="en-US" dirty="0"/>
          </a:p>
        </p:txBody>
      </p:sp>
      <p:sp>
        <p:nvSpPr>
          <p:cNvPr id="5" name="Footer Placeholder 4">
            <a:extLst>
              <a:ext uri="{FF2B5EF4-FFF2-40B4-BE49-F238E27FC236}">
                <a16:creationId xmlns:a16="http://schemas.microsoft.com/office/drawing/2014/main" id="{F4177A8F-F167-4C43-AEE7-45067080142F}"/>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EA1DA754-ED79-4909-833D-55BF9A5D80BB}"/>
              </a:ext>
            </a:extLst>
          </p:cNvPr>
          <p:cNvSpPr>
            <a:spLocks noGrp="1"/>
          </p:cNvSpPr>
          <p:nvPr>
            <p:ph type="sldNum" sz="quarter" idx="12"/>
          </p:nvPr>
        </p:nvSpPr>
        <p:spPr/>
        <p:txBody>
          <a:bodyPr/>
          <a:lstStyle/>
          <a:p>
            <a:fld id="{ED6580AB-5C3C-4B4F-8E2A-8B7A0A8CE695}" type="slidenum">
              <a:rPr lang="en-US" smtClean="0"/>
              <a:t>‹#›</a:t>
            </a:fld>
            <a:endParaRPr lang="en-US" dirty="0"/>
          </a:p>
        </p:txBody>
      </p:sp>
    </p:spTree>
    <p:extLst>
      <p:ext uri="{BB962C8B-B14F-4D97-AF65-F5344CB8AC3E}">
        <p14:creationId xmlns:p14="http://schemas.microsoft.com/office/powerpoint/2010/main" val="316008774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9AA026-BFE6-4D2A-9ABF-C593B566657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14747E8-A36B-4B4A-B2A4-B5283152AB2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6C6B59D-87BD-4F32-B9BC-31F9B1A5D7A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5C49B47-0C41-4DCC-9902-126916D9C448}"/>
              </a:ext>
            </a:extLst>
          </p:cNvPr>
          <p:cNvSpPr>
            <a:spLocks noGrp="1"/>
          </p:cNvSpPr>
          <p:nvPr>
            <p:ph type="dt" sz="half" idx="10"/>
          </p:nvPr>
        </p:nvSpPr>
        <p:spPr/>
        <p:txBody>
          <a:bodyPr/>
          <a:lstStyle/>
          <a:p>
            <a:fld id="{9294036C-9E7C-4FFC-99FA-414B61E345DD}" type="datetimeFigureOut">
              <a:rPr lang="en-US" smtClean="0"/>
              <a:t>4/11/2025</a:t>
            </a:fld>
            <a:endParaRPr lang="en-US" dirty="0"/>
          </a:p>
        </p:txBody>
      </p:sp>
      <p:sp>
        <p:nvSpPr>
          <p:cNvPr id="6" name="Footer Placeholder 5">
            <a:extLst>
              <a:ext uri="{FF2B5EF4-FFF2-40B4-BE49-F238E27FC236}">
                <a16:creationId xmlns:a16="http://schemas.microsoft.com/office/drawing/2014/main" id="{B7CD28B7-2F2D-4E80-A107-C1F266C63064}"/>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835D650A-4D0F-46AE-A132-267FCD921E82}"/>
              </a:ext>
            </a:extLst>
          </p:cNvPr>
          <p:cNvSpPr>
            <a:spLocks noGrp="1"/>
          </p:cNvSpPr>
          <p:nvPr>
            <p:ph type="sldNum" sz="quarter" idx="12"/>
          </p:nvPr>
        </p:nvSpPr>
        <p:spPr/>
        <p:txBody>
          <a:bodyPr/>
          <a:lstStyle/>
          <a:p>
            <a:fld id="{ED6580AB-5C3C-4B4F-8E2A-8B7A0A8CE695}" type="slidenum">
              <a:rPr lang="en-US" smtClean="0"/>
              <a:t>‹#›</a:t>
            </a:fld>
            <a:endParaRPr lang="en-US" dirty="0"/>
          </a:p>
        </p:txBody>
      </p:sp>
    </p:spTree>
    <p:extLst>
      <p:ext uri="{BB962C8B-B14F-4D97-AF65-F5344CB8AC3E}">
        <p14:creationId xmlns:p14="http://schemas.microsoft.com/office/powerpoint/2010/main" val="121987650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64C6F9-F6F6-4EA1-98AA-81B84F7CC05D}"/>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31B8B83E-B37C-46C9-8284-D6EBA0033C9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9A150B8-0288-44AC-9CE7-E7BD9FB32EF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DCF5DCAE-6027-49B9-A818-F45FADE27B2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84FAE16-DBCB-4A42-BFFC-053F2D529AB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6E8C038-E6A1-499D-9E24-FA5980421C81}"/>
              </a:ext>
            </a:extLst>
          </p:cNvPr>
          <p:cNvSpPr>
            <a:spLocks noGrp="1"/>
          </p:cNvSpPr>
          <p:nvPr>
            <p:ph type="dt" sz="half" idx="10"/>
          </p:nvPr>
        </p:nvSpPr>
        <p:spPr/>
        <p:txBody>
          <a:bodyPr/>
          <a:lstStyle/>
          <a:p>
            <a:fld id="{9294036C-9E7C-4FFC-99FA-414B61E345DD}" type="datetimeFigureOut">
              <a:rPr lang="en-US" smtClean="0"/>
              <a:t>4/11/2025</a:t>
            </a:fld>
            <a:endParaRPr lang="en-US" dirty="0"/>
          </a:p>
        </p:txBody>
      </p:sp>
      <p:sp>
        <p:nvSpPr>
          <p:cNvPr id="8" name="Footer Placeholder 7">
            <a:extLst>
              <a:ext uri="{FF2B5EF4-FFF2-40B4-BE49-F238E27FC236}">
                <a16:creationId xmlns:a16="http://schemas.microsoft.com/office/drawing/2014/main" id="{F9F911B6-A759-487E-8CB6-CF9EF737F076}"/>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EA906EC0-369D-4138-8D70-148CFDEE55EE}"/>
              </a:ext>
            </a:extLst>
          </p:cNvPr>
          <p:cNvSpPr>
            <a:spLocks noGrp="1"/>
          </p:cNvSpPr>
          <p:nvPr>
            <p:ph type="sldNum" sz="quarter" idx="12"/>
          </p:nvPr>
        </p:nvSpPr>
        <p:spPr/>
        <p:txBody>
          <a:bodyPr/>
          <a:lstStyle/>
          <a:p>
            <a:fld id="{ED6580AB-5C3C-4B4F-8E2A-8B7A0A8CE695}" type="slidenum">
              <a:rPr lang="en-US" smtClean="0"/>
              <a:t>‹#›</a:t>
            </a:fld>
            <a:endParaRPr lang="en-US" dirty="0"/>
          </a:p>
        </p:txBody>
      </p:sp>
    </p:spTree>
    <p:extLst>
      <p:ext uri="{BB962C8B-B14F-4D97-AF65-F5344CB8AC3E}">
        <p14:creationId xmlns:p14="http://schemas.microsoft.com/office/powerpoint/2010/main" val="282455430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E02F8A-97AC-456C-B9E3-45A7D520C5DA}"/>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8340F483-F2B9-47A3-9B5C-8C264B7016BD}"/>
              </a:ext>
            </a:extLst>
          </p:cNvPr>
          <p:cNvSpPr>
            <a:spLocks noGrp="1"/>
          </p:cNvSpPr>
          <p:nvPr>
            <p:ph type="dt" sz="half" idx="10"/>
          </p:nvPr>
        </p:nvSpPr>
        <p:spPr/>
        <p:txBody>
          <a:bodyPr/>
          <a:lstStyle/>
          <a:p>
            <a:fld id="{9294036C-9E7C-4FFC-99FA-414B61E345DD}" type="datetimeFigureOut">
              <a:rPr lang="en-US" smtClean="0"/>
              <a:t>4/11/2025</a:t>
            </a:fld>
            <a:endParaRPr lang="en-US" dirty="0"/>
          </a:p>
        </p:txBody>
      </p:sp>
      <p:sp>
        <p:nvSpPr>
          <p:cNvPr id="4" name="Footer Placeholder 3">
            <a:extLst>
              <a:ext uri="{FF2B5EF4-FFF2-40B4-BE49-F238E27FC236}">
                <a16:creationId xmlns:a16="http://schemas.microsoft.com/office/drawing/2014/main" id="{25849874-9D9B-4597-B20D-33D6F58BCA32}"/>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5B35894C-9062-435A-9758-82ED9C6D787E}"/>
              </a:ext>
            </a:extLst>
          </p:cNvPr>
          <p:cNvSpPr>
            <a:spLocks noGrp="1"/>
          </p:cNvSpPr>
          <p:nvPr>
            <p:ph type="sldNum" sz="quarter" idx="12"/>
          </p:nvPr>
        </p:nvSpPr>
        <p:spPr/>
        <p:txBody>
          <a:bodyPr/>
          <a:lstStyle/>
          <a:p>
            <a:fld id="{ED6580AB-5C3C-4B4F-8E2A-8B7A0A8CE695}" type="slidenum">
              <a:rPr lang="en-US" smtClean="0"/>
              <a:t>‹#›</a:t>
            </a:fld>
            <a:endParaRPr lang="en-US" dirty="0"/>
          </a:p>
        </p:txBody>
      </p:sp>
    </p:spTree>
    <p:extLst>
      <p:ext uri="{BB962C8B-B14F-4D97-AF65-F5344CB8AC3E}">
        <p14:creationId xmlns:p14="http://schemas.microsoft.com/office/powerpoint/2010/main" val="2681772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6A3F6AD-4D61-4238-AB7D-613625BFF81F}"/>
              </a:ext>
            </a:extLst>
          </p:cNvPr>
          <p:cNvSpPr>
            <a:spLocks noGrp="1"/>
          </p:cNvSpPr>
          <p:nvPr>
            <p:ph type="dt" sz="half" idx="10"/>
          </p:nvPr>
        </p:nvSpPr>
        <p:spPr/>
        <p:txBody>
          <a:bodyPr/>
          <a:lstStyle/>
          <a:p>
            <a:fld id="{9294036C-9E7C-4FFC-99FA-414B61E345DD}" type="datetimeFigureOut">
              <a:rPr lang="en-US" smtClean="0"/>
              <a:t>4/11/2025</a:t>
            </a:fld>
            <a:endParaRPr lang="en-US" dirty="0"/>
          </a:p>
        </p:txBody>
      </p:sp>
      <p:sp>
        <p:nvSpPr>
          <p:cNvPr id="3" name="Footer Placeholder 2">
            <a:extLst>
              <a:ext uri="{FF2B5EF4-FFF2-40B4-BE49-F238E27FC236}">
                <a16:creationId xmlns:a16="http://schemas.microsoft.com/office/drawing/2014/main" id="{D8AACDC9-944D-47C6-B286-82C86AD94318}"/>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E4EAAC43-3846-4080-B764-AB2DB308C58A}"/>
              </a:ext>
            </a:extLst>
          </p:cNvPr>
          <p:cNvSpPr>
            <a:spLocks noGrp="1"/>
          </p:cNvSpPr>
          <p:nvPr>
            <p:ph type="sldNum" sz="quarter" idx="12"/>
          </p:nvPr>
        </p:nvSpPr>
        <p:spPr/>
        <p:txBody>
          <a:bodyPr/>
          <a:lstStyle/>
          <a:p>
            <a:fld id="{ED6580AB-5C3C-4B4F-8E2A-8B7A0A8CE695}" type="slidenum">
              <a:rPr lang="en-US" smtClean="0"/>
              <a:t>‹#›</a:t>
            </a:fld>
            <a:endParaRPr lang="en-US" dirty="0"/>
          </a:p>
        </p:txBody>
      </p:sp>
    </p:spTree>
    <p:extLst>
      <p:ext uri="{BB962C8B-B14F-4D97-AF65-F5344CB8AC3E}">
        <p14:creationId xmlns:p14="http://schemas.microsoft.com/office/powerpoint/2010/main" val="28213701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6F4779-0336-4AFA-B9A7-259EE8BEC15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DB82F449-DDC3-4694-81E5-91A4B8F433E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F00A2C4-3B2E-46AC-9605-73F5B2CC1F5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6909769-F5A5-4635-BD0C-D6049DEB9632}"/>
              </a:ext>
            </a:extLst>
          </p:cNvPr>
          <p:cNvSpPr>
            <a:spLocks noGrp="1"/>
          </p:cNvSpPr>
          <p:nvPr>
            <p:ph type="dt" sz="half" idx="10"/>
          </p:nvPr>
        </p:nvSpPr>
        <p:spPr/>
        <p:txBody>
          <a:bodyPr/>
          <a:lstStyle/>
          <a:p>
            <a:fld id="{9294036C-9E7C-4FFC-99FA-414B61E345DD}" type="datetimeFigureOut">
              <a:rPr lang="en-US" smtClean="0"/>
              <a:t>4/11/2025</a:t>
            </a:fld>
            <a:endParaRPr lang="en-US" dirty="0"/>
          </a:p>
        </p:txBody>
      </p:sp>
      <p:sp>
        <p:nvSpPr>
          <p:cNvPr id="6" name="Footer Placeholder 5">
            <a:extLst>
              <a:ext uri="{FF2B5EF4-FFF2-40B4-BE49-F238E27FC236}">
                <a16:creationId xmlns:a16="http://schemas.microsoft.com/office/drawing/2014/main" id="{F9252DC3-D3D7-446F-A866-D7820B7BF876}"/>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471CDB00-5218-4567-902B-845073BE8753}"/>
              </a:ext>
            </a:extLst>
          </p:cNvPr>
          <p:cNvSpPr>
            <a:spLocks noGrp="1"/>
          </p:cNvSpPr>
          <p:nvPr>
            <p:ph type="sldNum" sz="quarter" idx="12"/>
          </p:nvPr>
        </p:nvSpPr>
        <p:spPr/>
        <p:txBody>
          <a:bodyPr/>
          <a:lstStyle/>
          <a:p>
            <a:fld id="{ED6580AB-5C3C-4B4F-8E2A-8B7A0A8CE695}" type="slidenum">
              <a:rPr lang="en-US" smtClean="0"/>
              <a:t>‹#›</a:t>
            </a:fld>
            <a:endParaRPr lang="en-US" dirty="0"/>
          </a:p>
        </p:txBody>
      </p:sp>
    </p:spTree>
    <p:extLst>
      <p:ext uri="{BB962C8B-B14F-4D97-AF65-F5344CB8AC3E}">
        <p14:creationId xmlns:p14="http://schemas.microsoft.com/office/powerpoint/2010/main" val="177612851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F661E4-9FF7-494B-A1C9-C9A1DD7052F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5D245657-DA21-4769-84F8-88DC644508E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p>
        </p:txBody>
      </p:sp>
      <p:sp>
        <p:nvSpPr>
          <p:cNvPr id="4" name="Text Placeholder 3">
            <a:extLst>
              <a:ext uri="{FF2B5EF4-FFF2-40B4-BE49-F238E27FC236}">
                <a16:creationId xmlns:a16="http://schemas.microsoft.com/office/drawing/2014/main" id="{A167B310-6692-4981-9CB8-FE79A091FF5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7DA2C9E-A9AD-4BB9-A691-90BB84F58CE9}"/>
              </a:ext>
            </a:extLst>
          </p:cNvPr>
          <p:cNvSpPr>
            <a:spLocks noGrp="1"/>
          </p:cNvSpPr>
          <p:nvPr>
            <p:ph type="dt" sz="half" idx="10"/>
          </p:nvPr>
        </p:nvSpPr>
        <p:spPr/>
        <p:txBody>
          <a:bodyPr/>
          <a:lstStyle/>
          <a:p>
            <a:fld id="{9294036C-9E7C-4FFC-99FA-414B61E345DD}" type="datetimeFigureOut">
              <a:rPr lang="en-US" smtClean="0"/>
              <a:t>4/11/2025</a:t>
            </a:fld>
            <a:endParaRPr lang="en-US" dirty="0"/>
          </a:p>
        </p:txBody>
      </p:sp>
      <p:sp>
        <p:nvSpPr>
          <p:cNvPr id="6" name="Footer Placeholder 5">
            <a:extLst>
              <a:ext uri="{FF2B5EF4-FFF2-40B4-BE49-F238E27FC236}">
                <a16:creationId xmlns:a16="http://schemas.microsoft.com/office/drawing/2014/main" id="{F4B3D45D-C826-4846-BBFC-A0D98B7E7A2C}"/>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93516961-40DC-443E-9DB8-3A987DF499A9}"/>
              </a:ext>
            </a:extLst>
          </p:cNvPr>
          <p:cNvSpPr>
            <a:spLocks noGrp="1"/>
          </p:cNvSpPr>
          <p:nvPr>
            <p:ph type="sldNum" sz="quarter" idx="12"/>
          </p:nvPr>
        </p:nvSpPr>
        <p:spPr/>
        <p:txBody>
          <a:bodyPr/>
          <a:lstStyle/>
          <a:p>
            <a:fld id="{ED6580AB-5C3C-4B4F-8E2A-8B7A0A8CE695}" type="slidenum">
              <a:rPr lang="en-US" smtClean="0"/>
              <a:t>‹#›</a:t>
            </a:fld>
            <a:endParaRPr lang="en-US" dirty="0"/>
          </a:p>
        </p:txBody>
      </p:sp>
    </p:spTree>
    <p:extLst>
      <p:ext uri="{BB962C8B-B14F-4D97-AF65-F5344CB8AC3E}">
        <p14:creationId xmlns:p14="http://schemas.microsoft.com/office/powerpoint/2010/main" val="263133386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081C24-32F4-4208-B651-CDCBFCD0312A}"/>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48B74779-B577-461F-A409-71F6A5A11A0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9B044BD-4FA0-432C-95D7-517D2DE8C4B6}"/>
              </a:ext>
            </a:extLst>
          </p:cNvPr>
          <p:cNvSpPr>
            <a:spLocks noGrp="1"/>
          </p:cNvSpPr>
          <p:nvPr>
            <p:ph type="dt" sz="half" idx="10"/>
          </p:nvPr>
        </p:nvSpPr>
        <p:spPr/>
        <p:txBody>
          <a:bodyPr/>
          <a:lstStyle/>
          <a:p>
            <a:fld id="{9294036C-9E7C-4FFC-99FA-414B61E345DD}" type="datetimeFigureOut">
              <a:rPr lang="en-US" smtClean="0"/>
              <a:t>4/11/2025</a:t>
            </a:fld>
            <a:endParaRPr lang="en-US" dirty="0"/>
          </a:p>
        </p:txBody>
      </p:sp>
      <p:sp>
        <p:nvSpPr>
          <p:cNvPr id="5" name="Footer Placeholder 4">
            <a:extLst>
              <a:ext uri="{FF2B5EF4-FFF2-40B4-BE49-F238E27FC236}">
                <a16:creationId xmlns:a16="http://schemas.microsoft.com/office/drawing/2014/main" id="{AD17F283-FE61-4C9A-9E39-74D429C582C2}"/>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69F9B807-6FE9-4E47-846B-BCB39B7AE2D5}"/>
              </a:ext>
            </a:extLst>
          </p:cNvPr>
          <p:cNvSpPr>
            <a:spLocks noGrp="1"/>
          </p:cNvSpPr>
          <p:nvPr>
            <p:ph type="sldNum" sz="quarter" idx="12"/>
          </p:nvPr>
        </p:nvSpPr>
        <p:spPr/>
        <p:txBody>
          <a:bodyPr/>
          <a:lstStyle/>
          <a:p>
            <a:fld id="{ED6580AB-5C3C-4B4F-8E2A-8B7A0A8CE695}" type="slidenum">
              <a:rPr lang="en-US" smtClean="0"/>
              <a:t>‹#›</a:t>
            </a:fld>
            <a:endParaRPr lang="en-US" dirty="0"/>
          </a:p>
        </p:txBody>
      </p:sp>
    </p:spTree>
    <p:extLst>
      <p:ext uri="{BB962C8B-B14F-4D97-AF65-F5344CB8AC3E}">
        <p14:creationId xmlns:p14="http://schemas.microsoft.com/office/powerpoint/2010/main" val="310398557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42594DD-FFD4-4AA9-BCDA-0BA87C146391}"/>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B79C2B6E-24EB-42CE-8B4D-3178D08C7EB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4C92C56-63F3-4246-AAEE-2FBC89E80248}"/>
              </a:ext>
            </a:extLst>
          </p:cNvPr>
          <p:cNvSpPr>
            <a:spLocks noGrp="1"/>
          </p:cNvSpPr>
          <p:nvPr>
            <p:ph type="dt" sz="half" idx="10"/>
          </p:nvPr>
        </p:nvSpPr>
        <p:spPr/>
        <p:txBody>
          <a:bodyPr/>
          <a:lstStyle/>
          <a:p>
            <a:fld id="{9294036C-9E7C-4FFC-99FA-414B61E345DD}" type="datetimeFigureOut">
              <a:rPr lang="en-US" smtClean="0"/>
              <a:t>4/11/2025</a:t>
            </a:fld>
            <a:endParaRPr lang="en-US" dirty="0"/>
          </a:p>
        </p:txBody>
      </p:sp>
      <p:sp>
        <p:nvSpPr>
          <p:cNvPr id="5" name="Footer Placeholder 4">
            <a:extLst>
              <a:ext uri="{FF2B5EF4-FFF2-40B4-BE49-F238E27FC236}">
                <a16:creationId xmlns:a16="http://schemas.microsoft.com/office/drawing/2014/main" id="{35C10319-C816-40EC-B1D0-FD9748E41D78}"/>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3854E9AB-6952-407A-9F06-2EB917172FBD}"/>
              </a:ext>
            </a:extLst>
          </p:cNvPr>
          <p:cNvSpPr>
            <a:spLocks noGrp="1"/>
          </p:cNvSpPr>
          <p:nvPr>
            <p:ph type="sldNum" sz="quarter" idx="12"/>
          </p:nvPr>
        </p:nvSpPr>
        <p:spPr/>
        <p:txBody>
          <a:bodyPr/>
          <a:lstStyle/>
          <a:p>
            <a:fld id="{ED6580AB-5C3C-4B4F-8E2A-8B7A0A8CE695}" type="slidenum">
              <a:rPr lang="en-US" smtClean="0"/>
              <a:t>‹#›</a:t>
            </a:fld>
            <a:endParaRPr lang="en-US" dirty="0"/>
          </a:p>
        </p:txBody>
      </p:sp>
    </p:spTree>
    <p:extLst>
      <p:ext uri="{BB962C8B-B14F-4D97-AF65-F5344CB8AC3E}">
        <p14:creationId xmlns:p14="http://schemas.microsoft.com/office/powerpoint/2010/main" val="36037163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E341CFC-63B9-4A19-A8AB-62B9E452AE5E}"/>
              </a:ext>
            </a:extLst>
          </p:cNvPr>
          <p:cNvSpPr>
            <a:spLocks noGrp="1"/>
          </p:cNvSpPr>
          <p:nvPr>
            <p:ph type="title"/>
          </p:nvPr>
        </p:nvSpPr>
        <p:spPr>
          <a:xfrm>
            <a:off x="838200" y="365125"/>
            <a:ext cx="10515600" cy="1325563"/>
          </a:xfrm>
          <a:prstGeom prst="rect">
            <a:avLst/>
          </a:prstGeom>
        </p:spPr>
        <p:txBody>
          <a:bodyPr vert="horz" lIns="0" tIns="0" rIns="0" bIns="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115A838B-134E-40B6-A7E3-1119BB8BF5BD}"/>
              </a:ext>
            </a:extLst>
          </p:cNvPr>
          <p:cNvSpPr>
            <a:spLocks noGrp="1"/>
          </p:cNvSpPr>
          <p:nvPr>
            <p:ph type="body" idx="1"/>
          </p:nvPr>
        </p:nvSpPr>
        <p:spPr>
          <a:xfrm>
            <a:off x="838200" y="1825625"/>
            <a:ext cx="10515600" cy="4351338"/>
          </a:xfrm>
          <a:prstGeom prst="rect">
            <a:avLst/>
          </a:prstGeom>
        </p:spPr>
        <p:txBody>
          <a:bodyPr vert="horz" lIns="0" tIns="0" rIns="0" bIns="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E8943BB-9EAD-4CBC-9CA2-75F70C6B582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294036C-9E7C-4FFC-99FA-414B61E345DD}" type="datetimeFigureOut">
              <a:rPr lang="en-US" smtClean="0"/>
              <a:t>4/11/2025</a:t>
            </a:fld>
            <a:endParaRPr lang="en-US" dirty="0"/>
          </a:p>
        </p:txBody>
      </p:sp>
      <p:sp>
        <p:nvSpPr>
          <p:cNvPr id="5" name="Footer Placeholder 4">
            <a:extLst>
              <a:ext uri="{FF2B5EF4-FFF2-40B4-BE49-F238E27FC236}">
                <a16:creationId xmlns:a16="http://schemas.microsoft.com/office/drawing/2014/main" id="{F204E537-5CBA-4B86-9D30-577B9F741E8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a:extLst>
              <a:ext uri="{FF2B5EF4-FFF2-40B4-BE49-F238E27FC236}">
                <a16:creationId xmlns:a16="http://schemas.microsoft.com/office/drawing/2014/main" id="{66E79E72-0F12-4646-BCDF-4C9EAA89C26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D6580AB-5C3C-4B4F-8E2A-8B7A0A8CE695}" type="slidenum">
              <a:rPr lang="en-US" smtClean="0"/>
              <a:t>‹#›</a:t>
            </a:fld>
            <a:endParaRPr lang="en-US" dirty="0"/>
          </a:p>
        </p:txBody>
      </p:sp>
    </p:spTree>
    <p:extLst>
      <p:ext uri="{BB962C8B-B14F-4D97-AF65-F5344CB8AC3E}">
        <p14:creationId xmlns:p14="http://schemas.microsoft.com/office/powerpoint/2010/main" val="55437804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6.xml"/><Relationship Id="rId5" Type="http://schemas.openxmlformats.org/officeDocument/2006/relationships/image" Target="../media/image4.pn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hidden="1">
            <a:extLst>
              <a:ext uri="{FF2B5EF4-FFF2-40B4-BE49-F238E27FC236}">
                <a16:creationId xmlns:a16="http://schemas.microsoft.com/office/drawing/2014/main" id="{016C325E-5B69-4D07-BBFB-7DB217A69D48}"/>
              </a:ext>
            </a:extLst>
          </p:cNvPr>
          <p:cNvSpPr>
            <a:spLocks noGrp="1"/>
          </p:cNvSpPr>
          <p:nvPr>
            <p:ph type="ctrTitle"/>
          </p:nvPr>
        </p:nvSpPr>
        <p:spPr/>
        <p:txBody>
          <a:bodyPr/>
          <a:lstStyle/>
          <a:p>
            <a:r>
              <a:rPr lang="en-US" dirty="0"/>
              <a:t>Human resources slide 1</a:t>
            </a:r>
          </a:p>
        </p:txBody>
      </p:sp>
      <p:sp>
        <p:nvSpPr>
          <p:cNvPr id="24" name="TextBox 23">
            <a:extLst>
              <a:ext uri="{FF2B5EF4-FFF2-40B4-BE49-F238E27FC236}">
                <a16:creationId xmlns:a16="http://schemas.microsoft.com/office/drawing/2014/main" id="{C1165547-DF3A-4694-9097-2BDAF2003713}"/>
              </a:ext>
            </a:extLst>
          </p:cNvPr>
          <p:cNvSpPr txBox="1"/>
          <p:nvPr/>
        </p:nvSpPr>
        <p:spPr>
          <a:xfrm>
            <a:off x="116968" y="2492325"/>
            <a:ext cx="7866826" cy="2492990"/>
          </a:xfrm>
          <a:prstGeom prst="rect">
            <a:avLst/>
          </a:prstGeom>
          <a:noFill/>
        </p:spPr>
        <p:txBody>
          <a:bodyPr wrap="square" lIns="0" tIns="0" rIns="0" bIns="0" rtlCol="0">
            <a:spAutoFit/>
          </a:bodyPr>
          <a:lstStyle/>
          <a:p>
            <a:r>
              <a:rPr lang="en-US" sz="5400" dirty="0"/>
              <a:t>Bank Performance Insights: Data-Driven Analysis with Power BI</a:t>
            </a:r>
            <a:endParaRPr lang="en-US" sz="5400" b="1" dirty="0">
              <a:solidFill>
                <a:srgbClr val="002060"/>
              </a:solidFill>
              <a:latin typeface="Segoe UI" panose="020B0502040204020203" pitchFamily="34" charset="0"/>
              <a:cs typeface="Segoe UI" panose="020B0502040204020203" pitchFamily="34" charset="0"/>
            </a:endParaRPr>
          </a:p>
        </p:txBody>
      </p:sp>
      <p:sp>
        <p:nvSpPr>
          <p:cNvPr id="55" name="Rectangle 54">
            <a:extLst>
              <a:ext uri="{FF2B5EF4-FFF2-40B4-BE49-F238E27FC236}">
                <a16:creationId xmlns:a16="http://schemas.microsoft.com/office/drawing/2014/main" id="{6BBBCB2E-F413-4381-8378-02FDC20EA4F6}"/>
              </a:ext>
            </a:extLst>
          </p:cNvPr>
          <p:cNvSpPr/>
          <p:nvPr/>
        </p:nvSpPr>
        <p:spPr>
          <a:xfrm>
            <a:off x="206709" y="5372192"/>
            <a:ext cx="3536195" cy="307777"/>
          </a:xfrm>
          <a:prstGeom prst="rect">
            <a:avLst/>
          </a:prstGeom>
        </p:spPr>
        <p:txBody>
          <a:bodyPr wrap="square" lIns="0" tIns="0" rIns="0" bIns="0">
            <a:spAutoFit/>
          </a:bodyPr>
          <a:lstStyle/>
          <a:p>
            <a:r>
              <a:rPr lang="en-US" sz="1600" b="1" i="1" dirty="0">
                <a:solidFill>
                  <a:srgbClr val="002060"/>
                </a:solidFill>
                <a:latin typeface="+mj-lt"/>
                <a:cs typeface="Segoe UI" panose="020B0502040204020203" pitchFamily="34" charset="0"/>
              </a:rPr>
              <a:t>PRESENTED BY</a:t>
            </a:r>
            <a:r>
              <a:rPr lang="en-US" sz="1600" i="1" dirty="0">
                <a:solidFill>
                  <a:srgbClr val="002060"/>
                </a:solidFill>
                <a:latin typeface="+mj-lt"/>
                <a:cs typeface="Segoe UI" panose="020B0502040204020203" pitchFamily="34" charset="0"/>
              </a:rPr>
              <a:t>:- </a:t>
            </a:r>
            <a:r>
              <a:rPr lang="en-US" sz="2000" b="1" i="1" dirty="0">
                <a:solidFill>
                  <a:srgbClr val="002060"/>
                </a:solidFill>
                <a:latin typeface="+mj-lt"/>
                <a:cs typeface="Segoe UI" panose="020B0502040204020203" pitchFamily="34" charset="0"/>
              </a:rPr>
              <a:t>Divya Kumari</a:t>
            </a:r>
          </a:p>
        </p:txBody>
      </p:sp>
      <p:grpSp>
        <p:nvGrpSpPr>
          <p:cNvPr id="2" name="Group 1">
            <a:extLst>
              <a:ext uri="{FF2B5EF4-FFF2-40B4-BE49-F238E27FC236}">
                <a16:creationId xmlns:a16="http://schemas.microsoft.com/office/drawing/2014/main" id="{8E504344-8563-476C-9EF9-4200B272FDC1}"/>
              </a:ext>
              <a:ext uri="{C183D7F6-B498-43B3-948B-1728B52AA6E4}">
                <adec:decorative xmlns:adec="http://schemas.microsoft.com/office/drawing/2017/decorative" val="1"/>
              </a:ext>
            </a:extLst>
          </p:cNvPr>
          <p:cNvGrpSpPr/>
          <p:nvPr/>
        </p:nvGrpSpPr>
        <p:grpSpPr>
          <a:xfrm>
            <a:off x="7001950" y="-4023168"/>
            <a:ext cx="8948964" cy="12105059"/>
            <a:chOff x="4855953" y="-2833465"/>
            <a:chExt cx="8948964" cy="12105059"/>
          </a:xfrm>
        </p:grpSpPr>
        <p:sp>
          <p:nvSpPr>
            <p:cNvPr id="18" name="Freeform 10">
              <a:extLst>
                <a:ext uri="{FF2B5EF4-FFF2-40B4-BE49-F238E27FC236}">
                  <a16:creationId xmlns:a16="http://schemas.microsoft.com/office/drawing/2014/main" id="{73D22BE5-D5D5-4BF2-A935-5C4AB588B458}"/>
                </a:ext>
              </a:extLst>
            </p:cNvPr>
            <p:cNvSpPr>
              <a:spLocks/>
            </p:cNvSpPr>
            <p:nvPr/>
          </p:nvSpPr>
          <p:spPr bwMode="auto">
            <a:xfrm rot="9420272">
              <a:off x="4855953" y="-2246936"/>
              <a:ext cx="8673602" cy="11518530"/>
            </a:xfrm>
            <a:custGeom>
              <a:avLst/>
              <a:gdLst>
                <a:gd name="T0" fmla="*/ 1166 w 2492"/>
                <a:gd name="T1" fmla="*/ 2419 h 3315"/>
                <a:gd name="T2" fmla="*/ 243 w 2492"/>
                <a:gd name="T3" fmla="*/ 912 h 3315"/>
                <a:gd name="T4" fmla="*/ 449 w 2492"/>
                <a:gd name="T5" fmla="*/ 15 h 3315"/>
                <a:gd name="T6" fmla="*/ 766 w 2492"/>
                <a:gd name="T7" fmla="*/ 302 h 3315"/>
                <a:gd name="T8" fmla="*/ 1651 w 2492"/>
                <a:gd name="T9" fmla="*/ 481 h 3315"/>
                <a:gd name="T10" fmla="*/ 2239 w 2492"/>
                <a:gd name="T11" fmla="*/ 1238 h 3315"/>
                <a:gd name="T12" fmla="*/ 2186 w 2492"/>
                <a:gd name="T13" fmla="*/ 2201 h 3315"/>
                <a:gd name="T14" fmla="*/ 2165 w 2492"/>
                <a:gd name="T15" fmla="*/ 2928 h 3315"/>
                <a:gd name="T16" fmla="*/ 1400 w 2492"/>
                <a:gd name="T17" fmla="*/ 3100 h 3315"/>
                <a:gd name="T18" fmla="*/ 1166 w 2492"/>
                <a:gd name="T19" fmla="*/ 2419 h 33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492" h="3315">
                  <a:moveTo>
                    <a:pt x="1166" y="2419"/>
                  </a:moveTo>
                  <a:cubicBezTo>
                    <a:pt x="1505" y="1277"/>
                    <a:pt x="486" y="1533"/>
                    <a:pt x="243" y="912"/>
                  </a:cubicBezTo>
                  <a:cubicBezTo>
                    <a:pt x="0" y="292"/>
                    <a:pt x="291" y="31"/>
                    <a:pt x="449" y="15"/>
                  </a:cubicBezTo>
                  <a:cubicBezTo>
                    <a:pt x="607" y="0"/>
                    <a:pt x="716" y="54"/>
                    <a:pt x="766" y="302"/>
                  </a:cubicBezTo>
                  <a:cubicBezTo>
                    <a:pt x="817" y="551"/>
                    <a:pt x="1312" y="508"/>
                    <a:pt x="1651" y="481"/>
                  </a:cubicBezTo>
                  <a:cubicBezTo>
                    <a:pt x="1989" y="454"/>
                    <a:pt x="2492" y="733"/>
                    <a:pt x="2239" y="1238"/>
                  </a:cubicBezTo>
                  <a:cubicBezTo>
                    <a:pt x="1986" y="1743"/>
                    <a:pt x="2000" y="1716"/>
                    <a:pt x="2186" y="2201"/>
                  </a:cubicBezTo>
                  <a:cubicBezTo>
                    <a:pt x="2372" y="2685"/>
                    <a:pt x="2165" y="2928"/>
                    <a:pt x="2165" y="2928"/>
                  </a:cubicBezTo>
                  <a:cubicBezTo>
                    <a:pt x="2165" y="2928"/>
                    <a:pt x="1791" y="3315"/>
                    <a:pt x="1400" y="3100"/>
                  </a:cubicBezTo>
                  <a:cubicBezTo>
                    <a:pt x="1008" y="2885"/>
                    <a:pt x="1166" y="2419"/>
                    <a:pt x="1166" y="2419"/>
                  </a:cubicBezTo>
                  <a:close/>
                </a:path>
              </a:pathLst>
            </a:custGeom>
            <a:gradFill>
              <a:gsLst>
                <a:gs pos="0">
                  <a:srgbClr val="80DEDE"/>
                </a:gs>
                <a:gs pos="53500">
                  <a:srgbClr val="85C1E7"/>
                </a:gs>
                <a:gs pos="100000">
                  <a:srgbClr val="878CFF"/>
                </a:gs>
              </a:gsLst>
              <a:lin ang="5400000" scaled="1"/>
            </a:gradFill>
            <a:ln w="12700" cap="flat">
              <a:noFill/>
              <a:prstDash val="solid"/>
              <a:miter lim="800000"/>
              <a:headEnd/>
              <a:tailEnd/>
            </a:ln>
          </p:spPr>
          <p:txBody>
            <a:bodyPr vert="horz" wrap="square" lIns="91440" tIns="45720" rIns="91440" bIns="45720" numCol="1" anchor="t" anchorCtr="0" compatLnSpc="1">
              <a:prstTxWarp prst="textNoShape">
                <a:avLst/>
              </a:prstTxWarp>
            </a:bodyPr>
            <a:lstStyle/>
            <a:p>
              <a:endParaRPr lang="en-US" dirty="0"/>
            </a:p>
          </p:txBody>
        </p:sp>
        <p:sp>
          <p:nvSpPr>
            <p:cNvPr id="19" name="Freeform 11">
              <a:extLst>
                <a:ext uri="{FF2B5EF4-FFF2-40B4-BE49-F238E27FC236}">
                  <a16:creationId xmlns:a16="http://schemas.microsoft.com/office/drawing/2014/main" id="{C42C174B-303A-45F6-8FF1-93001A3AAFC1}"/>
                </a:ext>
              </a:extLst>
            </p:cNvPr>
            <p:cNvSpPr>
              <a:spLocks/>
            </p:cNvSpPr>
            <p:nvPr/>
          </p:nvSpPr>
          <p:spPr bwMode="auto">
            <a:xfrm rot="9420272">
              <a:off x="5048022" y="-2833465"/>
              <a:ext cx="8756895" cy="10755934"/>
            </a:xfrm>
            <a:custGeom>
              <a:avLst/>
              <a:gdLst>
                <a:gd name="T0" fmla="*/ 1504 w 2516"/>
                <a:gd name="T1" fmla="*/ 2980 h 3095"/>
                <a:gd name="T2" fmla="*/ 2237 w 2516"/>
                <a:gd name="T3" fmla="*/ 2283 h 3095"/>
                <a:gd name="T4" fmla="*/ 1468 w 2516"/>
                <a:gd name="T5" fmla="*/ 1052 h 3095"/>
                <a:gd name="T6" fmla="*/ 979 w 2516"/>
                <a:gd name="T7" fmla="*/ 648 h 3095"/>
                <a:gd name="T8" fmla="*/ 411 w 2516"/>
                <a:gd name="T9" fmla="*/ 195 h 3095"/>
                <a:gd name="T10" fmla="*/ 397 w 2516"/>
                <a:gd name="T11" fmla="*/ 1117 h 3095"/>
                <a:gd name="T12" fmla="*/ 194 w 2516"/>
                <a:gd name="T13" fmla="*/ 1767 h 3095"/>
                <a:gd name="T14" fmla="*/ 866 w 2516"/>
                <a:gd name="T15" fmla="*/ 2349 h 3095"/>
                <a:gd name="T16" fmla="*/ 1275 w 2516"/>
                <a:gd name="T17" fmla="*/ 2766 h 3095"/>
                <a:gd name="T18" fmla="*/ 1504 w 2516"/>
                <a:gd name="T19" fmla="*/ 2980 h 30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516" h="3095">
                  <a:moveTo>
                    <a:pt x="1504" y="2980"/>
                  </a:moveTo>
                  <a:cubicBezTo>
                    <a:pt x="1504" y="2980"/>
                    <a:pt x="1958" y="3095"/>
                    <a:pt x="2237" y="2283"/>
                  </a:cubicBezTo>
                  <a:cubicBezTo>
                    <a:pt x="2516" y="1472"/>
                    <a:pt x="1745" y="1159"/>
                    <a:pt x="1468" y="1052"/>
                  </a:cubicBezTo>
                  <a:cubicBezTo>
                    <a:pt x="1191" y="945"/>
                    <a:pt x="1126" y="907"/>
                    <a:pt x="979" y="648"/>
                  </a:cubicBezTo>
                  <a:cubicBezTo>
                    <a:pt x="832" y="389"/>
                    <a:pt x="822" y="0"/>
                    <a:pt x="411" y="195"/>
                  </a:cubicBezTo>
                  <a:cubicBezTo>
                    <a:pt x="0" y="391"/>
                    <a:pt x="384" y="948"/>
                    <a:pt x="397" y="1117"/>
                  </a:cubicBezTo>
                  <a:cubicBezTo>
                    <a:pt x="411" y="1286"/>
                    <a:pt x="128" y="1580"/>
                    <a:pt x="194" y="1767"/>
                  </a:cubicBezTo>
                  <a:cubicBezTo>
                    <a:pt x="259" y="1954"/>
                    <a:pt x="273" y="2154"/>
                    <a:pt x="866" y="2349"/>
                  </a:cubicBezTo>
                  <a:cubicBezTo>
                    <a:pt x="866" y="2349"/>
                    <a:pt x="1186" y="2374"/>
                    <a:pt x="1275" y="2766"/>
                  </a:cubicBezTo>
                  <a:cubicBezTo>
                    <a:pt x="1275" y="2766"/>
                    <a:pt x="1340" y="2988"/>
                    <a:pt x="1504" y="2980"/>
                  </a:cubicBezTo>
                  <a:close/>
                </a:path>
              </a:pathLst>
            </a:custGeom>
            <a:gradFill>
              <a:gsLst>
                <a:gs pos="0">
                  <a:srgbClr val="7CEFD8"/>
                </a:gs>
                <a:gs pos="51000">
                  <a:srgbClr val="6672E4"/>
                </a:gs>
                <a:gs pos="100000">
                  <a:srgbClr val="882BE5"/>
                </a:gs>
              </a:gsLst>
              <a:lin ang="5400000" scaled="1"/>
            </a:gradFill>
            <a:ln w="12700" cap="flat">
              <a:noFill/>
              <a:prstDash val="solid"/>
              <a:miter lim="800000"/>
              <a:headEnd/>
              <a:tailEnd/>
            </a:ln>
          </p:spPr>
          <p:txBody>
            <a:bodyPr vert="horz" wrap="square" lIns="91440" tIns="45720" rIns="91440" bIns="45720" numCol="1" anchor="t" anchorCtr="0" compatLnSpc="1">
              <a:prstTxWarp prst="textNoShape">
                <a:avLst/>
              </a:prstTxWarp>
            </a:bodyPr>
            <a:lstStyle/>
            <a:p>
              <a:endParaRPr lang="en-US" dirty="0"/>
            </a:p>
          </p:txBody>
        </p:sp>
        <p:sp>
          <p:nvSpPr>
            <p:cNvPr id="20" name="Freeform 12">
              <a:extLst>
                <a:ext uri="{FF2B5EF4-FFF2-40B4-BE49-F238E27FC236}">
                  <a16:creationId xmlns:a16="http://schemas.microsoft.com/office/drawing/2014/main" id="{22AA5A4F-A0EB-453F-A699-F817D4616C6F}"/>
                </a:ext>
              </a:extLst>
            </p:cNvPr>
            <p:cNvSpPr>
              <a:spLocks/>
            </p:cNvSpPr>
            <p:nvPr/>
          </p:nvSpPr>
          <p:spPr bwMode="auto">
            <a:xfrm rot="9420272">
              <a:off x="5218811" y="-1993836"/>
              <a:ext cx="7570428" cy="10122905"/>
            </a:xfrm>
            <a:custGeom>
              <a:avLst/>
              <a:gdLst>
                <a:gd name="T0" fmla="*/ 1896 w 2175"/>
                <a:gd name="T1" fmla="*/ 2283 h 2913"/>
                <a:gd name="T2" fmla="*/ 1467 w 2175"/>
                <a:gd name="T3" fmla="*/ 2913 h 2913"/>
                <a:gd name="T4" fmla="*/ 1250 w 2175"/>
                <a:gd name="T5" fmla="*/ 2849 h 2913"/>
                <a:gd name="T6" fmla="*/ 1016 w 2175"/>
                <a:gd name="T7" fmla="*/ 2168 h 2913"/>
                <a:gd name="T8" fmla="*/ 93 w 2175"/>
                <a:gd name="T9" fmla="*/ 661 h 2913"/>
                <a:gd name="T10" fmla="*/ 0 w 2175"/>
                <a:gd name="T11" fmla="*/ 238 h 2913"/>
                <a:gd name="T12" fmla="*/ 70 w 2175"/>
                <a:gd name="T13" fmla="*/ 195 h 2913"/>
                <a:gd name="T14" fmla="*/ 638 w 2175"/>
                <a:gd name="T15" fmla="*/ 648 h 2913"/>
                <a:gd name="T16" fmla="*/ 1127 w 2175"/>
                <a:gd name="T17" fmla="*/ 1052 h 2913"/>
                <a:gd name="T18" fmla="*/ 1896 w 2175"/>
                <a:gd name="T19" fmla="*/ 2283 h 29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175" h="2913">
                  <a:moveTo>
                    <a:pt x="1896" y="2283"/>
                  </a:moveTo>
                  <a:cubicBezTo>
                    <a:pt x="1770" y="2651"/>
                    <a:pt x="1607" y="2829"/>
                    <a:pt x="1467" y="2913"/>
                  </a:cubicBezTo>
                  <a:cubicBezTo>
                    <a:pt x="1397" y="2909"/>
                    <a:pt x="1324" y="2889"/>
                    <a:pt x="1250" y="2849"/>
                  </a:cubicBezTo>
                  <a:cubicBezTo>
                    <a:pt x="858" y="2634"/>
                    <a:pt x="1016" y="2168"/>
                    <a:pt x="1016" y="2168"/>
                  </a:cubicBezTo>
                  <a:cubicBezTo>
                    <a:pt x="1354" y="1026"/>
                    <a:pt x="336" y="1282"/>
                    <a:pt x="93" y="661"/>
                  </a:cubicBezTo>
                  <a:cubicBezTo>
                    <a:pt x="28" y="495"/>
                    <a:pt x="1" y="354"/>
                    <a:pt x="0" y="238"/>
                  </a:cubicBezTo>
                  <a:cubicBezTo>
                    <a:pt x="20" y="222"/>
                    <a:pt x="44" y="208"/>
                    <a:pt x="70" y="195"/>
                  </a:cubicBezTo>
                  <a:cubicBezTo>
                    <a:pt x="481" y="0"/>
                    <a:pt x="491" y="389"/>
                    <a:pt x="638" y="648"/>
                  </a:cubicBezTo>
                  <a:cubicBezTo>
                    <a:pt x="785" y="907"/>
                    <a:pt x="850" y="945"/>
                    <a:pt x="1127" y="1052"/>
                  </a:cubicBezTo>
                  <a:cubicBezTo>
                    <a:pt x="1404" y="1159"/>
                    <a:pt x="2175" y="1472"/>
                    <a:pt x="1896" y="2283"/>
                  </a:cubicBezTo>
                  <a:close/>
                </a:path>
              </a:pathLst>
            </a:custGeom>
            <a:gradFill>
              <a:gsLst>
                <a:gs pos="100000">
                  <a:srgbClr val="7CEFD8"/>
                </a:gs>
                <a:gs pos="19000">
                  <a:srgbClr val="6672E4"/>
                </a:gs>
                <a:gs pos="0">
                  <a:srgbClr val="882BE5"/>
                </a:gs>
              </a:gsLst>
              <a:lin ang="10200000" scaled="0"/>
            </a:gradFill>
            <a:ln w="12700" cap="flat">
              <a:noFill/>
              <a:prstDash val="solid"/>
              <a:miter lim="800000"/>
              <a:headEnd/>
              <a:tailEnd/>
            </a:ln>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325435632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 name="Title 97" hidden="1">
            <a:extLst>
              <a:ext uri="{FF2B5EF4-FFF2-40B4-BE49-F238E27FC236}">
                <a16:creationId xmlns:a16="http://schemas.microsoft.com/office/drawing/2014/main" id="{D69146DD-53CC-4FD6-9456-3F49560FC114}"/>
              </a:ext>
            </a:extLst>
          </p:cNvPr>
          <p:cNvSpPr>
            <a:spLocks noGrp="1"/>
          </p:cNvSpPr>
          <p:nvPr>
            <p:ph type="title"/>
          </p:nvPr>
        </p:nvSpPr>
        <p:spPr/>
        <p:txBody>
          <a:bodyPr/>
          <a:lstStyle/>
          <a:p>
            <a:r>
              <a:rPr lang="en-US" dirty="0"/>
              <a:t>Human resources slide 9</a:t>
            </a:r>
          </a:p>
        </p:txBody>
      </p:sp>
      <p:grpSp>
        <p:nvGrpSpPr>
          <p:cNvPr id="94" name="Group 93" descr="This image is of an abstract shape. ">
            <a:extLst>
              <a:ext uri="{FF2B5EF4-FFF2-40B4-BE49-F238E27FC236}">
                <a16:creationId xmlns:a16="http://schemas.microsoft.com/office/drawing/2014/main" id="{06C5D049-85D7-4673-9E2C-A2DF6A4D5048}"/>
              </a:ext>
            </a:extLst>
          </p:cNvPr>
          <p:cNvGrpSpPr/>
          <p:nvPr/>
        </p:nvGrpSpPr>
        <p:grpSpPr>
          <a:xfrm rot="15309759">
            <a:off x="8619941" y="1107044"/>
            <a:ext cx="4736736" cy="6407275"/>
            <a:chOff x="4855953" y="-2833465"/>
            <a:chExt cx="8948964" cy="12105059"/>
          </a:xfrm>
        </p:grpSpPr>
        <p:sp>
          <p:nvSpPr>
            <p:cNvPr id="95" name="Freeform 10">
              <a:extLst>
                <a:ext uri="{FF2B5EF4-FFF2-40B4-BE49-F238E27FC236}">
                  <a16:creationId xmlns:a16="http://schemas.microsoft.com/office/drawing/2014/main" id="{495773B3-D6CE-453B-96D1-E95DF6122C37}"/>
                </a:ext>
              </a:extLst>
            </p:cNvPr>
            <p:cNvSpPr>
              <a:spLocks/>
            </p:cNvSpPr>
            <p:nvPr/>
          </p:nvSpPr>
          <p:spPr bwMode="auto">
            <a:xfrm rot="9420272">
              <a:off x="4855953" y="-2246936"/>
              <a:ext cx="8673602" cy="11518530"/>
            </a:xfrm>
            <a:custGeom>
              <a:avLst/>
              <a:gdLst>
                <a:gd name="T0" fmla="*/ 1166 w 2492"/>
                <a:gd name="T1" fmla="*/ 2419 h 3315"/>
                <a:gd name="T2" fmla="*/ 243 w 2492"/>
                <a:gd name="T3" fmla="*/ 912 h 3315"/>
                <a:gd name="T4" fmla="*/ 449 w 2492"/>
                <a:gd name="T5" fmla="*/ 15 h 3315"/>
                <a:gd name="T6" fmla="*/ 766 w 2492"/>
                <a:gd name="T7" fmla="*/ 302 h 3315"/>
                <a:gd name="T8" fmla="*/ 1651 w 2492"/>
                <a:gd name="T9" fmla="*/ 481 h 3315"/>
                <a:gd name="T10" fmla="*/ 2239 w 2492"/>
                <a:gd name="T11" fmla="*/ 1238 h 3315"/>
                <a:gd name="T12" fmla="*/ 2186 w 2492"/>
                <a:gd name="T13" fmla="*/ 2201 h 3315"/>
                <a:gd name="T14" fmla="*/ 2165 w 2492"/>
                <a:gd name="T15" fmla="*/ 2928 h 3315"/>
                <a:gd name="T16" fmla="*/ 1400 w 2492"/>
                <a:gd name="T17" fmla="*/ 3100 h 3315"/>
                <a:gd name="T18" fmla="*/ 1166 w 2492"/>
                <a:gd name="T19" fmla="*/ 2419 h 33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492" h="3315">
                  <a:moveTo>
                    <a:pt x="1166" y="2419"/>
                  </a:moveTo>
                  <a:cubicBezTo>
                    <a:pt x="1505" y="1277"/>
                    <a:pt x="486" y="1533"/>
                    <a:pt x="243" y="912"/>
                  </a:cubicBezTo>
                  <a:cubicBezTo>
                    <a:pt x="0" y="292"/>
                    <a:pt x="291" y="31"/>
                    <a:pt x="449" y="15"/>
                  </a:cubicBezTo>
                  <a:cubicBezTo>
                    <a:pt x="607" y="0"/>
                    <a:pt x="716" y="54"/>
                    <a:pt x="766" y="302"/>
                  </a:cubicBezTo>
                  <a:cubicBezTo>
                    <a:pt x="817" y="551"/>
                    <a:pt x="1312" y="508"/>
                    <a:pt x="1651" y="481"/>
                  </a:cubicBezTo>
                  <a:cubicBezTo>
                    <a:pt x="1989" y="454"/>
                    <a:pt x="2492" y="733"/>
                    <a:pt x="2239" y="1238"/>
                  </a:cubicBezTo>
                  <a:cubicBezTo>
                    <a:pt x="1986" y="1743"/>
                    <a:pt x="2000" y="1716"/>
                    <a:pt x="2186" y="2201"/>
                  </a:cubicBezTo>
                  <a:cubicBezTo>
                    <a:pt x="2372" y="2685"/>
                    <a:pt x="2165" y="2928"/>
                    <a:pt x="2165" y="2928"/>
                  </a:cubicBezTo>
                  <a:cubicBezTo>
                    <a:pt x="2165" y="2928"/>
                    <a:pt x="1791" y="3315"/>
                    <a:pt x="1400" y="3100"/>
                  </a:cubicBezTo>
                  <a:cubicBezTo>
                    <a:pt x="1008" y="2885"/>
                    <a:pt x="1166" y="2419"/>
                    <a:pt x="1166" y="2419"/>
                  </a:cubicBezTo>
                  <a:close/>
                </a:path>
              </a:pathLst>
            </a:custGeom>
            <a:gradFill>
              <a:gsLst>
                <a:gs pos="0">
                  <a:srgbClr val="80DEDE"/>
                </a:gs>
                <a:gs pos="53500">
                  <a:srgbClr val="85C1E7"/>
                </a:gs>
                <a:gs pos="100000">
                  <a:srgbClr val="878CFF"/>
                </a:gs>
              </a:gsLst>
              <a:lin ang="5400000" scaled="1"/>
            </a:gradFill>
            <a:ln w="12700" cap="flat">
              <a:noFill/>
              <a:prstDash val="solid"/>
              <a:miter lim="800000"/>
              <a:headEnd/>
              <a:tailEnd/>
            </a:ln>
          </p:spPr>
          <p:txBody>
            <a:bodyPr vert="horz" wrap="square" lIns="91440" tIns="45720" rIns="91440" bIns="45720" numCol="1" anchor="t" anchorCtr="0" compatLnSpc="1">
              <a:prstTxWarp prst="textNoShape">
                <a:avLst/>
              </a:prstTxWarp>
            </a:bodyPr>
            <a:lstStyle/>
            <a:p>
              <a:endParaRPr lang="en-US" dirty="0"/>
            </a:p>
          </p:txBody>
        </p:sp>
        <p:sp>
          <p:nvSpPr>
            <p:cNvPr id="96" name="Freeform 11">
              <a:extLst>
                <a:ext uri="{FF2B5EF4-FFF2-40B4-BE49-F238E27FC236}">
                  <a16:creationId xmlns:a16="http://schemas.microsoft.com/office/drawing/2014/main" id="{49D9CCDB-CAB7-4554-8B96-AF649D96074D}"/>
                </a:ext>
              </a:extLst>
            </p:cNvPr>
            <p:cNvSpPr>
              <a:spLocks/>
            </p:cNvSpPr>
            <p:nvPr/>
          </p:nvSpPr>
          <p:spPr bwMode="auto">
            <a:xfrm rot="9420272">
              <a:off x="5048022" y="-2833465"/>
              <a:ext cx="8756895" cy="10755934"/>
            </a:xfrm>
            <a:custGeom>
              <a:avLst/>
              <a:gdLst>
                <a:gd name="T0" fmla="*/ 1504 w 2516"/>
                <a:gd name="T1" fmla="*/ 2980 h 3095"/>
                <a:gd name="T2" fmla="*/ 2237 w 2516"/>
                <a:gd name="T3" fmla="*/ 2283 h 3095"/>
                <a:gd name="T4" fmla="*/ 1468 w 2516"/>
                <a:gd name="T5" fmla="*/ 1052 h 3095"/>
                <a:gd name="T6" fmla="*/ 979 w 2516"/>
                <a:gd name="T7" fmla="*/ 648 h 3095"/>
                <a:gd name="T8" fmla="*/ 411 w 2516"/>
                <a:gd name="T9" fmla="*/ 195 h 3095"/>
                <a:gd name="T10" fmla="*/ 397 w 2516"/>
                <a:gd name="T11" fmla="*/ 1117 h 3095"/>
                <a:gd name="T12" fmla="*/ 194 w 2516"/>
                <a:gd name="T13" fmla="*/ 1767 h 3095"/>
                <a:gd name="T14" fmla="*/ 866 w 2516"/>
                <a:gd name="T15" fmla="*/ 2349 h 3095"/>
                <a:gd name="T16" fmla="*/ 1275 w 2516"/>
                <a:gd name="T17" fmla="*/ 2766 h 3095"/>
                <a:gd name="T18" fmla="*/ 1504 w 2516"/>
                <a:gd name="T19" fmla="*/ 2980 h 30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516" h="3095">
                  <a:moveTo>
                    <a:pt x="1504" y="2980"/>
                  </a:moveTo>
                  <a:cubicBezTo>
                    <a:pt x="1504" y="2980"/>
                    <a:pt x="1958" y="3095"/>
                    <a:pt x="2237" y="2283"/>
                  </a:cubicBezTo>
                  <a:cubicBezTo>
                    <a:pt x="2516" y="1472"/>
                    <a:pt x="1745" y="1159"/>
                    <a:pt x="1468" y="1052"/>
                  </a:cubicBezTo>
                  <a:cubicBezTo>
                    <a:pt x="1191" y="945"/>
                    <a:pt x="1126" y="907"/>
                    <a:pt x="979" y="648"/>
                  </a:cubicBezTo>
                  <a:cubicBezTo>
                    <a:pt x="832" y="389"/>
                    <a:pt x="822" y="0"/>
                    <a:pt x="411" y="195"/>
                  </a:cubicBezTo>
                  <a:cubicBezTo>
                    <a:pt x="0" y="391"/>
                    <a:pt x="384" y="948"/>
                    <a:pt x="397" y="1117"/>
                  </a:cubicBezTo>
                  <a:cubicBezTo>
                    <a:pt x="411" y="1286"/>
                    <a:pt x="128" y="1580"/>
                    <a:pt x="194" y="1767"/>
                  </a:cubicBezTo>
                  <a:cubicBezTo>
                    <a:pt x="259" y="1954"/>
                    <a:pt x="273" y="2154"/>
                    <a:pt x="866" y="2349"/>
                  </a:cubicBezTo>
                  <a:cubicBezTo>
                    <a:pt x="866" y="2349"/>
                    <a:pt x="1186" y="2374"/>
                    <a:pt x="1275" y="2766"/>
                  </a:cubicBezTo>
                  <a:cubicBezTo>
                    <a:pt x="1275" y="2766"/>
                    <a:pt x="1340" y="2988"/>
                    <a:pt x="1504" y="2980"/>
                  </a:cubicBezTo>
                  <a:close/>
                </a:path>
              </a:pathLst>
            </a:custGeom>
            <a:gradFill>
              <a:gsLst>
                <a:gs pos="0">
                  <a:srgbClr val="7CEFD8"/>
                </a:gs>
                <a:gs pos="51000">
                  <a:srgbClr val="6672E4"/>
                </a:gs>
                <a:gs pos="100000">
                  <a:srgbClr val="882BE5"/>
                </a:gs>
              </a:gsLst>
              <a:lin ang="5400000" scaled="1"/>
            </a:gradFill>
            <a:ln w="12700" cap="flat">
              <a:noFill/>
              <a:prstDash val="solid"/>
              <a:miter lim="800000"/>
              <a:headEnd/>
              <a:tailEnd/>
            </a:ln>
          </p:spPr>
          <p:txBody>
            <a:bodyPr vert="horz" wrap="square" lIns="91440" tIns="45720" rIns="91440" bIns="45720" numCol="1" anchor="t" anchorCtr="0" compatLnSpc="1">
              <a:prstTxWarp prst="textNoShape">
                <a:avLst/>
              </a:prstTxWarp>
            </a:bodyPr>
            <a:lstStyle/>
            <a:p>
              <a:endParaRPr lang="en-US" dirty="0"/>
            </a:p>
          </p:txBody>
        </p:sp>
        <p:sp>
          <p:nvSpPr>
            <p:cNvPr id="97" name="Freeform 12">
              <a:extLst>
                <a:ext uri="{FF2B5EF4-FFF2-40B4-BE49-F238E27FC236}">
                  <a16:creationId xmlns:a16="http://schemas.microsoft.com/office/drawing/2014/main" id="{15844E15-7463-4C39-9A45-B2A35B7FD5CD}"/>
                </a:ext>
              </a:extLst>
            </p:cNvPr>
            <p:cNvSpPr>
              <a:spLocks/>
            </p:cNvSpPr>
            <p:nvPr/>
          </p:nvSpPr>
          <p:spPr bwMode="auto">
            <a:xfrm rot="9420272">
              <a:off x="5218811" y="-1993836"/>
              <a:ext cx="7570428" cy="10122905"/>
            </a:xfrm>
            <a:custGeom>
              <a:avLst/>
              <a:gdLst>
                <a:gd name="T0" fmla="*/ 1896 w 2175"/>
                <a:gd name="T1" fmla="*/ 2283 h 2913"/>
                <a:gd name="T2" fmla="*/ 1467 w 2175"/>
                <a:gd name="T3" fmla="*/ 2913 h 2913"/>
                <a:gd name="T4" fmla="*/ 1250 w 2175"/>
                <a:gd name="T5" fmla="*/ 2849 h 2913"/>
                <a:gd name="T6" fmla="*/ 1016 w 2175"/>
                <a:gd name="T7" fmla="*/ 2168 h 2913"/>
                <a:gd name="T8" fmla="*/ 93 w 2175"/>
                <a:gd name="T9" fmla="*/ 661 h 2913"/>
                <a:gd name="T10" fmla="*/ 0 w 2175"/>
                <a:gd name="T11" fmla="*/ 238 h 2913"/>
                <a:gd name="T12" fmla="*/ 70 w 2175"/>
                <a:gd name="T13" fmla="*/ 195 h 2913"/>
                <a:gd name="T14" fmla="*/ 638 w 2175"/>
                <a:gd name="T15" fmla="*/ 648 h 2913"/>
                <a:gd name="T16" fmla="*/ 1127 w 2175"/>
                <a:gd name="T17" fmla="*/ 1052 h 2913"/>
                <a:gd name="T18" fmla="*/ 1896 w 2175"/>
                <a:gd name="T19" fmla="*/ 2283 h 29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175" h="2913">
                  <a:moveTo>
                    <a:pt x="1896" y="2283"/>
                  </a:moveTo>
                  <a:cubicBezTo>
                    <a:pt x="1770" y="2651"/>
                    <a:pt x="1607" y="2829"/>
                    <a:pt x="1467" y="2913"/>
                  </a:cubicBezTo>
                  <a:cubicBezTo>
                    <a:pt x="1397" y="2909"/>
                    <a:pt x="1324" y="2889"/>
                    <a:pt x="1250" y="2849"/>
                  </a:cubicBezTo>
                  <a:cubicBezTo>
                    <a:pt x="858" y="2634"/>
                    <a:pt x="1016" y="2168"/>
                    <a:pt x="1016" y="2168"/>
                  </a:cubicBezTo>
                  <a:cubicBezTo>
                    <a:pt x="1354" y="1026"/>
                    <a:pt x="336" y="1282"/>
                    <a:pt x="93" y="661"/>
                  </a:cubicBezTo>
                  <a:cubicBezTo>
                    <a:pt x="28" y="495"/>
                    <a:pt x="1" y="354"/>
                    <a:pt x="0" y="238"/>
                  </a:cubicBezTo>
                  <a:cubicBezTo>
                    <a:pt x="20" y="222"/>
                    <a:pt x="44" y="208"/>
                    <a:pt x="70" y="195"/>
                  </a:cubicBezTo>
                  <a:cubicBezTo>
                    <a:pt x="481" y="0"/>
                    <a:pt x="491" y="389"/>
                    <a:pt x="638" y="648"/>
                  </a:cubicBezTo>
                  <a:cubicBezTo>
                    <a:pt x="785" y="907"/>
                    <a:pt x="850" y="945"/>
                    <a:pt x="1127" y="1052"/>
                  </a:cubicBezTo>
                  <a:cubicBezTo>
                    <a:pt x="1404" y="1159"/>
                    <a:pt x="2175" y="1472"/>
                    <a:pt x="1896" y="2283"/>
                  </a:cubicBezTo>
                  <a:close/>
                </a:path>
              </a:pathLst>
            </a:custGeom>
            <a:gradFill>
              <a:gsLst>
                <a:gs pos="100000">
                  <a:srgbClr val="7CEFD8"/>
                </a:gs>
                <a:gs pos="19000">
                  <a:srgbClr val="6672E4"/>
                </a:gs>
                <a:gs pos="0">
                  <a:srgbClr val="882BE5"/>
                </a:gs>
              </a:gsLst>
              <a:lin ang="10200000" scaled="0"/>
            </a:gradFill>
            <a:ln w="12700" cap="flat">
              <a:noFill/>
              <a:prstDash val="solid"/>
              <a:miter lim="800000"/>
              <a:headEnd/>
              <a:tailEnd/>
            </a:ln>
          </p:spPr>
          <p:txBody>
            <a:bodyPr vert="horz" wrap="square" lIns="91440" tIns="45720" rIns="91440" bIns="45720" numCol="1" anchor="t" anchorCtr="0" compatLnSpc="1">
              <a:prstTxWarp prst="textNoShape">
                <a:avLst/>
              </a:prstTxWarp>
            </a:bodyPr>
            <a:lstStyle/>
            <a:p>
              <a:endParaRPr lang="en-US" dirty="0"/>
            </a:p>
          </p:txBody>
        </p:sp>
      </p:grpSp>
      <p:sp>
        <p:nvSpPr>
          <p:cNvPr id="92" name="TextBox 91">
            <a:extLst>
              <a:ext uri="{FF2B5EF4-FFF2-40B4-BE49-F238E27FC236}">
                <a16:creationId xmlns:a16="http://schemas.microsoft.com/office/drawing/2014/main" id="{D2CAE5E2-7861-F090-FFB8-BA58E3CFE848}"/>
              </a:ext>
            </a:extLst>
          </p:cNvPr>
          <p:cNvSpPr txBox="1"/>
          <p:nvPr/>
        </p:nvSpPr>
        <p:spPr>
          <a:xfrm>
            <a:off x="3634451" y="2002420"/>
            <a:ext cx="184731" cy="369332"/>
          </a:xfrm>
          <a:prstGeom prst="rect">
            <a:avLst/>
          </a:prstGeom>
          <a:noFill/>
        </p:spPr>
        <p:txBody>
          <a:bodyPr wrap="square" rtlCol="0">
            <a:spAutoFit/>
          </a:bodyPr>
          <a:lstStyle/>
          <a:p>
            <a:endParaRPr lang="en-IN" dirty="0"/>
          </a:p>
        </p:txBody>
      </p:sp>
      <p:sp>
        <p:nvSpPr>
          <p:cNvPr id="93" name="TextBox 92">
            <a:extLst>
              <a:ext uri="{FF2B5EF4-FFF2-40B4-BE49-F238E27FC236}">
                <a16:creationId xmlns:a16="http://schemas.microsoft.com/office/drawing/2014/main" id="{04E06A7E-CD01-0282-B1A7-177E1C00B587}"/>
              </a:ext>
            </a:extLst>
          </p:cNvPr>
          <p:cNvSpPr txBox="1"/>
          <p:nvPr/>
        </p:nvSpPr>
        <p:spPr>
          <a:xfrm>
            <a:off x="500026" y="1884591"/>
            <a:ext cx="9463113" cy="3539430"/>
          </a:xfrm>
          <a:prstGeom prst="rect">
            <a:avLst/>
          </a:prstGeom>
          <a:noFill/>
        </p:spPr>
        <p:txBody>
          <a:bodyPr wrap="square" rtlCol="0">
            <a:spAutoFit/>
          </a:bodyPr>
          <a:lstStyle/>
          <a:p>
            <a:r>
              <a:rPr lang="en-US" sz="1600" dirty="0">
                <a:latin typeface="Georgia" panose="02040502050405020303" pitchFamily="18" charset="0"/>
              </a:rPr>
              <a:t>This report analyzes various banking metrics using Power BI visualizations. The goal is to derive insights into account balances, transaction patterns, customer distribution, and branch performance. This analysis helps to make informed decisions on optimizing operations, improving customer engagement, and enhancing branch profitability.</a:t>
            </a:r>
          </a:p>
          <a:p>
            <a:endParaRPr lang="en-US" sz="1600" dirty="0">
              <a:latin typeface="Georgia" panose="02040502050405020303" pitchFamily="18" charset="0"/>
            </a:endParaRPr>
          </a:p>
          <a:p>
            <a:endParaRPr lang="en-US" sz="1600" dirty="0">
              <a:latin typeface="Georgia" panose="02040502050405020303" pitchFamily="18" charset="0"/>
            </a:endParaRPr>
          </a:p>
          <a:p>
            <a:r>
              <a:rPr lang="en-US" sz="1600" b="1" dirty="0">
                <a:latin typeface="Georgia" panose="02040502050405020303" pitchFamily="18" charset="0"/>
              </a:rPr>
              <a:t>Key Areas Analyzed</a:t>
            </a:r>
            <a:r>
              <a:rPr lang="en-US" sz="1600" dirty="0">
                <a:latin typeface="Georgia" panose="02040502050405020303" pitchFamily="18" charset="0"/>
              </a:rPr>
              <a:t>:</a:t>
            </a:r>
          </a:p>
          <a:p>
            <a:endParaRPr lang="en-US" sz="1600" dirty="0">
              <a:latin typeface="Georgia" panose="02040502050405020303" pitchFamily="18" charset="0"/>
            </a:endParaRPr>
          </a:p>
          <a:p>
            <a:pPr marL="285750" indent="-285750">
              <a:buFont typeface="Arial" panose="020B0604020202020204" pitchFamily="34" charset="0"/>
              <a:buChar char="•"/>
            </a:pPr>
            <a:r>
              <a:rPr lang="en-US" sz="1600" dirty="0">
                <a:latin typeface="Georgia" panose="02040502050405020303" pitchFamily="18" charset="0"/>
              </a:rPr>
              <a:t>Total balance across all account types.</a:t>
            </a:r>
          </a:p>
          <a:p>
            <a:pPr marL="285750" indent="-285750">
              <a:buFont typeface="Arial" panose="020B0604020202020204" pitchFamily="34" charset="0"/>
              <a:buChar char="•"/>
            </a:pPr>
            <a:r>
              <a:rPr lang="en-US" sz="1600" dirty="0">
                <a:latin typeface="Georgia" panose="02040502050405020303" pitchFamily="18" charset="0"/>
              </a:rPr>
              <a:t>Top-performing branches by total account balances</a:t>
            </a:r>
          </a:p>
          <a:p>
            <a:pPr marL="285750" indent="-285750">
              <a:buFont typeface="Arial" panose="020B0604020202020204" pitchFamily="34" charset="0"/>
              <a:buChar char="•"/>
            </a:pPr>
            <a:r>
              <a:rPr lang="en-US" sz="1600" dirty="0">
                <a:latin typeface="Georgia" panose="02040502050405020303" pitchFamily="18" charset="0"/>
              </a:rPr>
              <a:t>Average balance for branches</a:t>
            </a:r>
          </a:p>
          <a:p>
            <a:pPr marL="285750" indent="-285750">
              <a:buFont typeface="Arial" panose="020B0604020202020204" pitchFamily="34" charset="0"/>
              <a:buChar char="•"/>
            </a:pPr>
            <a:r>
              <a:rPr lang="en-US" sz="1600" dirty="0">
                <a:latin typeface="Georgia" panose="02040502050405020303" pitchFamily="18" charset="0"/>
              </a:rPr>
              <a:t>Transaction trends over time</a:t>
            </a:r>
          </a:p>
          <a:p>
            <a:pPr marL="285750" indent="-285750">
              <a:buFont typeface="Arial" panose="020B0604020202020204" pitchFamily="34" charset="0"/>
              <a:buChar char="•"/>
            </a:pPr>
            <a:r>
              <a:rPr lang="en-US" sz="1600" dirty="0">
                <a:latin typeface="Georgia" panose="02040502050405020303" pitchFamily="18" charset="0"/>
              </a:rPr>
              <a:t>Total transacting customers age group</a:t>
            </a:r>
          </a:p>
          <a:p>
            <a:pPr marL="285750" indent="-285750">
              <a:buFont typeface="Arial" panose="020B0604020202020204" pitchFamily="34" charset="0"/>
              <a:buChar char="•"/>
            </a:pPr>
            <a:r>
              <a:rPr lang="en-US" sz="1600" dirty="0">
                <a:latin typeface="Georgia" panose="02040502050405020303" pitchFamily="18" charset="0"/>
              </a:rPr>
              <a:t>State wise branch performance &amp; top branches with high transactions</a:t>
            </a:r>
          </a:p>
        </p:txBody>
      </p:sp>
      <p:sp>
        <p:nvSpPr>
          <p:cNvPr id="99" name="TextBox 98">
            <a:extLst>
              <a:ext uri="{FF2B5EF4-FFF2-40B4-BE49-F238E27FC236}">
                <a16:creationId xmlns:a16="http://schemas.microsoft.com/office/drawing/2014/main" id="{4200C0F2-C2CB-9797-E91D-E400D7195C29}"/>
              </a:ext>
            </a:extLst>
          </p:cNvPr>
          <p:cNvSpPr txBox="1"/>
          <p:nvPr/>
        </p:nvSpPr>
        <p:spPr>
          <a:xfrm>
            <a:off x="2911419" y="454335"/>
            <a:ext cx="3376245" cy="707886"/>
          </a:xfrm>
          <a:prstGeom prst="rect">
            <a:avLst/>
          </a:prstGeom>
          <a:noFill/>
        </p:spPr>
        <p:txBody>
          <a:bodyPr wrap="none" rtlCol="0">
            <a:spAutoFit/>
          </a:bodyPr>
          <a:lstStyle/>
          <a:p>
            <a:r>
              <a:rPr lang="en-US" sz="4000" b="1" dirty="0">
                <a:latin typeface="Georgia" panose="02040502050405020303" pitchFamily="18" charset="0"/>
              </a:rPr>
              <a:t>OBJECTIVE</a:t>
            </a:r>
            <a:endParaRPr lang="en-IN" sz="4000" b="1" dirty="0">
              <a:latin typeface="Georgia" panose="02040502050405020303" pitchFamily="18" charset="0"/>
            </a:endParaRPr>
          </a:p>
        </p:txBody>
      </p:sp>
    </p:spTree>
    <p:extLst>
      <p:ext uri="{BB962C8B-B14F-4D97-AF65-F5344CB8AC3E}">
        <p14:creationId xmlns:p14="http://schemas.microsoft.com/office/powerpoint/2010/main" val="353220431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3ADA21-DD6A-1D40-7273-D5D1208E6F13}"/>
              </a:ext>
            </a:extLst>
          </p:cNvPr>
          <p:cNvSpPr>
            <a:spLocks noGrp="1"/>
          </p:cNvSpPr>
          <p:nvPr>
            <p:ph type="title"/>
          </p:nvPr>
        </p:nvSpPr>
        <p:spPr>
          <a:xfrm>
            <a:off x="1785342" y="232445"/>
            <a:ext cx="10515600" cy="1325563"/>
          </a:xfrm>
        </p:spPr>
        <p:txBody>
          <a:bodyPr>
            <a:normAutofit/>
          </a:bodyPr>
          <a:lstStyle/>
          <a:p>
            <a:r>
              <a:rPr lang="en-US" sz="4000" b="1" dirty="0">
                <a:latin typeface="Georgia" panose="02040502050405020303" pitchFamily="18" charset="0"/>
              </a:rPr>
              <a:t>BRANCH PERFORMANCE</a:t>
            </a:r>
            <a:endParaRPr lang="en-IN" sz="4000" dirty="0">
              <a:latin typeface="Georgia" panose="02040502050405020303" pitchFamily="18" charset="0"/>
            </a:endParaRPr>
          </a:p>
        </p:txBody>
      </p:sp>
      <p:sp>
        <p:nvSpPr>
          <p:cNvPr id="5" name="TextBox 4">
            <a:extLst>
              <a:ext uri="{FF2B5EF4-FFF2-40B4-BE49-F238E27FC236}">
                <a16:creationId xmlns:a16="http://schemas.microsoft.com/office/drawing/2014/main" id="{E17A7B4B-85B3-E2C3-724E-87457B2E4591}"/>
              </a:ext>
            </a:extLst>
          </p:cNvPr>
          <p:cNvSpPr txBox="1"/>
          <p:nvPr/>
        </p:nvSpPr>
        <p:spPr>
          <a:xfrm>
            <a:off x="237745" y="1695168"/>
            <a:ext cx="7190920" cy="4770537"/>
          </a:xfrm>
          <a:prstGeom prst="rect">
            <a:avLst/>
          </a:prstGeom>
          <a:noFill/>
        </p:spPr>
        <p:txBody>
          <a:bodyPr wrap="square" rtlCol="0">
            <a:spAutoFit/>
          </a:bodyPr>
          <a:lstStyle/>
          <a:p>
            <a:r>
              <a:rPr lang="en-US" sz="1600" b="1" dirty="0">
                <a:latin typeface="Georgia" panose="02040502050405020303" pitchFamily="18" charset="0"/>
              </a:rPr>
              <a:t>Key Insight:</a:t>
            </a:r>
          </a:p>
          <a:p>
            <a:endParaRPr lang="en-US" sz="1600" dirty="0">
              <a:latin typeface="Georgia" panose="02040502050405020303" pitchFamily="18" charset="0"/>
            </a:endParaRPr>
          </a:p>
          <a:p>
            <a:pPr marL="285750" indent="-285750">
              <a:buFont typeface="Arial" panose="020B0604020202020204" pitchFamily="34" charset="0"/>
              <a:buChar char="•"/>
            </a:pPr>
            <a:r>
              <a:rPr lang="en-US" sz="1600" dirty="0">
                <a:latin typeface="Georgia" panose="02040502050405020303" pitchFamily="18" charset="0"/>
              </a:rPr>
              <a:t>The branch performance analysis highlights that top-performing branches like INDUS 11 Silicon Valley and KMB 707 Brigade Road lead in both total balance and transaction volume, indicating strong customer engagement. </a:t>
            </a:r>
          </a:p>
          <a:p>
            <a:pPr marL="285750" indent="-285750">
              <a:buFont typeface="Arial" panose="020B0604020202020204" pitchFamily="34" charset="0"/>
              <a:buChar char="•"/>
            </a:pPr>
            <a:r>
              <a:rPr lang="en-US" sz="1600" dirty="0">
                <a:latin typeface="Georgia" panose="02040502050405020303" pitchFamily="18" charset="0"/>
              </a:rPr>
              <a:t>Urban branches, especially in states like Maharashtra, Karnataka, and Telangana, consistently outperform rural ones. </a:t>
            </a:r>
          </a:p>
          <a:p>
            <a:pPr marL="285750" indent="-285750">
              <a:buFont typeface="Arial" panose="020B0604020202020204" pitchFamily="34" charset="0"/>
              <a:buChar char="•"/>
            </a:pPr>
            <a:r>
              <a:rPr lang="en-US" sz="1600" dirty="0">
                <a:latin typeface="Georgia" panose="02040502050405020303" pitchFamily="18" charset="0"/>
              </a:rPr>
              <a:t>Underperforming present opportunities for improvement. To drive growth, it's recommended to strengthen high-performing branches with additional support, improve customer acquisition through targeted campaigns, and regularly monitor key metrics to optimize performance across locations.</a:t>
            </a:r>
            <a:endParaRPr lang="en-IN" sz="1600" dirty="0">
              <a:latin typeface="Georgia" panose="02040502050405020303" pitchFamily="18" charset="0"/>
            </a:endParaRPr>
          </a:p>
          <a:p>
            <a:endParaRPr lang="en-US" sz="1600" dirty="0">
              <a:latin typeface="Georgia" panose="02040502050405020303" pitchFamily="18" charset="0"/>
            </a:endParaRPr>
          </a:p>
          <a:p>
            <a:r>
              <a:rPr lang="en-US" sz="1600" b="1" dirty="0">
                <a:latin typeface="Georgia" panose="02040502050405020303" pitchFamily="18" charset="0"/>
              </a:rPr>
              <a:t>Recommendation:</a:t>
            </a:r>
          </a:p>
          <a:p>
            <a:endParaRPr lang="en-US" sz="1600" dirty="0">
              <a:latin typeface="Georgia" panose="02040502050405020303" pitchFamily="18" charset="0"/>
            </a:endParaRPr>
          </a:p>
          <a:p>
            <a:pPr marL="285750" indent="-285750">
              <a:buFont typeface="Arial" panose="020B0604020202020204" pitchFamily="34" charset="0"/>
              <a:buChar char="•"/>
            </a:pPr>
            <a:r>
              <a:rPr lang="en-US" sz="1600" dirty="0">
                <a:latin typeface="Georgia" panose="02040502050405020303" pitchFamily="18" charset="0"/>
              </a:rPr>
              <a:t>To drive growth, it's recommended to strengthen high-performing branches with   additional support, </a:t>
            </a:r>
            <a:r>
              <a:rPr lang="en-IN" sz="1600" dirty="0">
                <a:latin typeface="Georgia" panose="02040502050405020303" pitchFamily="18" charset="0"/>
              </a:rPr>
              <a:t>digital tools.</a:t>
            </a:r>
            <a:endParaRPr lang="en-US" sz="1600" dirty="0">
              <a:latin typeface="Georgia" panose="02040502050405020303" pitchFamily="18" charset="0"/>
            </a:endParaRPr>
          </a:p>
          <a:p>
            <a:pPr marL="285750" indent="-285750">
              <a:buFont typeface="Arial" panose="020B0604020202020204" pitchFamily="34" charset="0"/>
              <a:buChar char="•"/>
            </a:pPr>
            <a:r>
              <a:rPr lang="en-US" sz="1600" dirty="0">
                <a:latin typeface="Georgia" panose="02040502050405020303" pitchFamily="18" charset="0"/>
              </a:rPr>
              <a:t>Launch targeted campaigns to boost new account openings.</a:t>
            </a:r>
          </a:p>
          <a:p>
            <a:pPr>
              <a:buFont typeface="Arial" panose="020B0604020202020204" pitchFamily="34" charset="0"/>
              <a:buChar char="•"/>
            </a:pPr>
            <a:endParaRPr lang="en-US" sz="1600" dirty="0"/>
          </a:p>
        </p:txBody>
      </p:sp>
      <p:pic>
        <p:nvPicPr>
          <p:cNvPr id="6" name="Picture 5">
            <a:extLst>
              <a:ext uri="{FF2B5EF4-FFF2-40B4-BE49-F238E27FC236}">
                <a16:creationId xmlns:a16="http://schemas.microsoft.com/office/drawing/2014/main" id="{8FED030E-63A9-64D1-F3BA-F4B27FCC1A6D}"/>
              </a:ext>
            </a:extLst>
          </p:cNvPr>
          <p:cNvPicPr>
            <a:picLocks noChangeAspect="1"/>
          </p:cNvPicPr>
          <p:nvPr/>
        </p:nvPicPr>
        <p:blipFill>
          <a:blip r:embed="rId2"/>
          <a:stretch>
            <a:fillRect/>
          </a:stretch>
        </p:blipFill>
        <p:spPr>
          <a:xfrm>
            <a:off x="7799832" y="1847088"/>
            <a:ext cx="3989046" cy="4471085"/>
          </a:xfrm>
          <a:prstGeom prst="rect">
            <a:avLst/>
          </a:prstGeom>
        </p:spPr>
      </p:pic>
    </p:spTree>
    <p:extLst>
      <p:ext uri="{BB962C8B-B14F-4D97-AF65-F5344CB8AC3E}">
        <p14:creationId xmlns:p14="http://schemas.microsoft.com/office/powerpoint/2010/main" val="30387550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85DEA7-F996-529C-7702-D947F72273EC}"/>
              </a:ext>
            </a:extLst>
          </p:cNvPr>
          <p:cNvSpPr>
            <a:spLocks noGrp="1"/>
          </p:cNvSpPr>
          <p:nvPr>
            <p:ph type="title"/>
          </p:nvPr>
        </p:nvSpPr>
        <p:spPr>
          <a:xfrm>
            <a:off x="2266332" y="-256568"/>
            <a:ext cx="6345937" cy="1325563"/>
          </a:xfrm>
        </p:spPr>
        <p:txBody>
          <a:bodyPr>
            <a:normAutofit/>
          </a:bodyPr>
          <a:lstStyle/>
          <a:p>
            <a:r>
              <a:rPr lang="en-IN" sz="4000" b="1" dirty="0">
                <a:latin typeface="Georgia" panose="02040502050405020303" pitchFamily="18" charset="0"/>
              </a:rPr>
              <a:t>CUSTOMER INSIGHTS</a:t>
            </a:r>
          </a:p>
        </p:txBody>
      </p:sp>
      <p:sp>
        <p:nvSpPr>
          <p:cNvPr id="4" name="TextBox 3">
            <a:extLst>
              <a:ext uri="{FF2B5EF4-FFF2-40B4-BE49-F238E27FC236}">
                <a16:creationId xmlns:a16="http://schemas.microsoft.com/office/drawing/2014/main" id="{22FABFFC-65F8-D0ED-399F-9D6D46E9A2B8}"/>
              </a:ext>
            </a:extLst>
          </p:cNvPr>
          <p:cNvSpPr txBox="1"/>
          <p:nvPr/>
        </p:nvSpPr>
        <p:spPr>
          <a:xfrm>
            <a:off x="244172" y="3522528"/>
            <a:ext cx="11703656" cy="3108543"/>
          </a:xfrm>
          <a:prstGeom prst="rect">
            <a:avLst/>
          </a:prstGeom>
          <a:noFill/>
        </p:spPr>
        <p:txBody>
          <a:bodyPr wrap="square" rtlCol="0">
            <a:spAutoFit/>
          </a:bodyPr>
          <a:lstStyle/>
          <a:p>
            <a:r>
              <a:rPr lang="en-US" b="1" dirty="0">
                <a:latin typeface="Georgia" panose="02040502050405020303" pitchFamily="18" charset="0"/>
              </a:rPr>
              <a:t>Key Insight:</a:t>
            </a:r>
          </a:p>
          <a:p>
            <a:endParaRPr lang="en-US" dirty="0">
              <a:latin typeface="Georgia" panose="02040502050405020303" pitchFamily="18" charset="0"/>
            </a:endParaRPr>
          </a:p>
          <a:p>
            <a:pPr marL="285750" indent="-285750">
              <a:buFont typeface="Arial" panose="020B0604020202020204" pitchFamily="34" charset="0"/>
              <a:buChar char="•"/>
            </a:pPr>
            <a:r>
              <a:rPr lang="en-US" sz="1600" dirty="0"/>
              <a:t>State-wise Distribution: Karnataka (29.94%) and Maharashtra (24.2%) have the highest customer share making them key regions for business growth.</a:t>
            </a:r>
          </a:p>
          <a:p>
            <a:pPr marL="285750" indent="-285750">
              <a:buFont typeface="Arial" panose="020B0604020202020204" pitchFamily="34" charset="0"/>
              <a:buChar char="•"/>
            </a:pPr>
            <a:r>
              <a:rPr lang="en-US" sz="1600" dirty="0"/>
              <a:t>Majority of customers fall within the 60–75+ age group, highlighting an older, mature customer base.</a:t>
            </a:r>
          </a:p>
          <a:p>
            <a:pPr marL="285750" indent="-285750">
              <a:buFont typeface="Arial" panose="020B0604020202020204" pitchFamily="34" charset="0"/>
              <a:buChar char="•"/>
            </a:pPr>
            <a:r>
              <a:rPr lang="en-US" sz="1600" dirty="0"/>
              <a:t>Strong link between high balance and high transaction volume.</a:t>
            </a:r>
          </a:p>
          <a:p>
            <a:pPr>
              <a:buFont typeface="Arial" panose="020B0604020202020204" pitchFamily="34" charset="0"/>
              <a:buChar char="•"/>
            </a:pPr>
            <a:endParaRPr lang="en-US" sz="1600" dirty="0">
              <a:latin typeface="Georgia" panose="02040502050405020303" pitchFamily="18" charset="0"/>
            </a:endParaRPr>
          </a:p>
          <a:p>
            <a:r>
              <a:rPr lang="en-US" sz="1600" b="1" dirty="0">
                <a:latin typeface="Georgia" panose="02040502050405020303" pitchFamily="18" charset="0"/>
              </a:rPr>
              <a:t>Recommendation:</a:t>
            </a:r>
          </a:p>
          <a:p>
            <a:endParaRPr lang="en-US" sz="1600" dirty="0">
              <a:latin typeface="Georgia" panose="02040502050405020303" pitchFamily="18" charset="0"/>
            </a:endParaRPr>
          </a:p>
          <a:p>
            <a:pPr marL="285750" indent="-285750">
              <a:buFont typeface="Arial" panose="020B0604020202020204" pitchFamily="34" charset="0"/>
              <a:buChar char="•"/>
            </a:pPr>
            <a:r>
              <a:rPr lang="en-US" sz="1600" dirty="0">
                <a:latin typeface="Georgia" panose="02040502050405020303" pitchFamily="18" charset="0"/>
              </a:rPr>
              <a:t>Engage high-value customers with loyalty programs or premium services.</a:t>
            </a:r>
          </a:p>
          <a:p>
            <a:pPr marL="285750" indent="-285750">
              <a:buFont typeface="Arial" panose="020B0604020202020204" pitchFamily="34" charset="0"/>
              <a:buChar char="•"/>
            </a:pPr>
            <a:r>
              <a:rPr lang="en-US" sz="1600" dirty="0"/>
              <a:t>Target younger segments (18–40 age groups) to diversify the customer base and ensure future growth.</a:t>
            </a:r>
          </a:p>
          <a:p>
            <a:pPr marL="285750" indent="-285750">
              <a:buFont typeface="Arial" panose="020B0604020202020204" pitchFamily="34" charset="0"/>
              <a:buChar char="•"/>
            </a:pPr>
            <a:r>
              <a:rPr lang="en-US" sz="1600" dirty="0"/>
              <a:t>Follow up on inactive customers to understand reasons and attempt reactivation.</a:t>
            </a:r>
            <a:endParaRPr lang="en-IN" sz="1600" dirty="0"/>
          </a:p>
        </p:txBody>
      </p:sp>
      <p:pic>
        <p:nvPicPr>
          <p:cNvPr id="8" name="Picture 7">
            <a:extLst>
              <a:ext uri="{FF2B5EF4-FFF2-40B4-BE49-F238E27FC236}">
                <a16:creationId xmlns:a16="http://schemas.microsoft.com/office/drawing/2014/main" id="{74327F95-3B06-4322-20EA-97850ED1F358}"/>
              </a:ext>
            </a:extLst>
          </p:cNvPr>
          <p:cNvPicPr>
            <a:picLocks noChangeAspect="1"/>
          </p:cNvPicPr>
          <p:nvPr/>
        </p:nvPicPr>
        <p:blipFill>
          <a:blip r:embed="rId3"/>
          <a:stretch>
            <a:fillRect/>
          </a:stretch>
        </p:blipFill>
        <p:spPr>
          <a:xfrm>
            <a:off x="244172" y="813816"/>
            <a:ext cx="3541112" cy="2562308"/>
          </a:xfrm>
          <a:prstGeom prst="rect">
            <a:avLst/>
          </a:prstGeom>
        </p:spPr>
      </p:pic>
      <p:pic>
        <p:nvPicPr>
          <p:cNvPr id="12" name="Picture 11">
            <a:extLst>
              <a:ext uri="{FF2B5EF4-FFF2-40B4-BE49-F238E27FC236}">
                <a16:creationId xmlns:a16="http://schemas.microsoft.com/office/drawing/2014/main" id="{7B20FBB6-7276-902D-8170-59979F77F337}"/>
              </a:ext>
            </a:extLst>
          </p:cNvPr>
          <p:cNvPicPr>
            <a:picLocks noChangeAspect="1"/>
          </p:cNvPicPr>
          <p:nvPr/>
        </p:nvPicPr>
        <p:blipFill>
          <a:blip r:embed="rId4"/>
          <a:stretch>
            <a:fillRect/>
          </a:stretch>
        </p:blipFill>
        <p:spPr>
          <a:xfrm>
            <a:off x="3945160" y="813816"/>
            <a:ext cx="3541112" cy="2615184"/>
          </a:xfrm>
          <a:prstGeom prst="rect">
            <a:avLst/>
          </a:prstGeom>
        </p:spPr>
      </p:pic>
      <p:pic>
        <p:nvPicPr>
          <p:cNvPr id="16" name="Picture 15">
            <a:extLst>
              <a:ext uri="{FF2B5EF4-FFF2-40B4-BE49-F238E27FC236}">
                <a16:creationId xmlns:a16="http://schemas.microsoft.com/office/drawing/2014/main" id="{11B7B383-541C-8541-9D97-394980D2FA1A}"/>
              </a:ext>
            </a:extLst>
          </p:cNvPr>
          <p:cNvPicPr>
            <a:picLocks noChangeAspect="1"/>
          </p:cNvPicPr>
          <p:nvPr/>
        </p:nvPicPr>
        <p:blipFill>
          <a:blip r:embed="rId5"/>
          <a:stretch>
            <a:fillRect/>
          </a:stretch>
        </p:blipFill>
        <p:spPr>
          <a:xfrm>
            <a:off x="7646148" y="813816"/>
            <a:ext cx="3920461" cy="2615184"/>
          </a:xfrm>
          <a:prstGeom prst="rect">
            <a:avLst/>
          </a:prstGeom>
        </p:spPr>
      </p:pic>
    </p:spTree>
    <p:extLst>
      <p:ext uri="{BB962C8B-B14F-4D97-AF65-F5344CB8AC3E}">
        <p14:creationId xmlns:p14="http://schemas.microsoft.com/office/powerpoint/2010/main" val="93822243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83937D-A815-3964-5AF5-A84AE890AE02}"/>
              </a:ext>
            </a:extLst>
          </p:cNvPr>
          <p:cNvSpPr>
            <a:spLocks noGrp="1"/>
          </p:cNvSpPr>
          <p:nvPr>
            <p:ph type="title"/>
          </p:nvPr>
        </p:nvSpPr>
        <p:spPr>
          <a:xfrm>
            <a:off x="2197117" y="-118335"/>
            <a:ext cx="6407387" cy="960657"/>
          </a:xfrm>
        </p:spPr>
        <p:txBody>
          <a:bodyPr>
            <a:normAutofit/>
          </a:bodyPr>
          <a:lstStyle/>
          <a:p>
            <a:r>
              <a:rPr lang="en-IN" sz="4000" b="1" dirty="0">
                <a:latin typeface="Georgia" panose="02040502050405020303" pitchFamily="18" charset="0"/>
              </a:rPr>
              <a:t>Transaction Overview</a:t>
            </a:r>
          </a:p>
        </p:txBody>
      </p:sp>
      <p:sp>
        <p:nvSpPr>
          <p:cNvPr id="5" name="TextBox 4">
            <a:extLst>
              <a:ext uri="{FF2B5EF4-FFF2-40B4-BE49-F238E27FC236}">
                <a16:creationId xmlns:a16="http://schemas.microsoft.com/office/drawing/2014/main" id="{4A527BC9-B17F-2EFD-B03B-BF45DBACCEB8}"/>
              </a:ext>
            </a:extLst>
          </p:cNvPr>
          <p:cNvSpPr txBox="1"/>
          <p:nvPr/>
        </p:nvSpPr>
        <p:spPr>
          <a:xfrm>
            <a:off x="512063" y="3914578"/>
            <a:ext cx="11392017" cy="2554545"/>
          </a:xfrm>
          <a:prstGeom prst="rect">
            <a:avLst/>
          </a:prstGeom>
          <a:noFill/>
        </p:spPr>
        <p:txBody>
          <a:bodyPr wrap="square" rtlCol="0">
            <a:spAutoFit/>
          </a:bodyPr>
          <a:lstStyle/>
          <a:p>
            <a:r>
              <a:rPr lang="en-US" sz="1600" b="1" dirty="0">
                <a:latin typeface="Georgia" panose="02040502050405020303" pitchFamily="18" charset="0"/>
              </a:rPr>
              <a:t>Key Insight:</a:t>
            </a:r>
          </a:p>
          <a:p>
            <a:pPr marL="285750" indent="-285750">
              <a:buFont typeface="Arial" panose="020B0604020202020204" pitchFamily="34" charset="0"/>
              <a:buChar char="•"/>
            </a:pPr>
            <a:endParaRPr lang="en-US" sz="1600" dirty="0">
              <a:latin typeface="Georgia" panose="02040502050405020303" pitchFamily="18" charset="0"/>
            </a:endParaRPr>
          </a:p>
          <a:p>
            <a:pPr marL="285750" indent="-285750">
              <a:buFont typeface="Arial" panose="020B0604020202020204" pitchFamily="34" charset="0"/>
              <a:buChar char="•"/>
            </a:pPr>
            <a:r>
              <a:rPr lang="en-US" sz="1600" dirty="0">
                <a:latin typeface="Georgia" panose="02040502050405020303" pitchFamily="18" charset="0"/>
              </a:rPr>
              <a:t>Monthly trend shows peak transaction amount in September  with fluctuations throughout the year. </a:t>
            </a:r>
          </a:p>
          <a:p>
            <a:pPr marL="285750" indent="-285750">
              <a:buFont typeface="Arial" panose="020B0604020202020204" pitchFamily="34" charset="0"/>
              <a:buChar char="•"/>
            </a:pPr>
            <a:r>
              <a:rPr lang="en-US" sz="1600" dirty="0">
                <a:latin typeface="Georgia" panose="02040502050405020303" pitchFamily="18" charset="0"/>
              </a:rPr>
              <a:t>Majority of transactions fall in the ₹1K–₹5K range, indicating frequent low-value activity.</a:t>
            </a:r>
          </a:p>
          <a:p>
            <a:pPr marL="285750" indent="-285750">
              <a:buFont typeface="Arial" panose="020B0604020202020204" pitchFamily="34" charset="0"/>
              <a:buChar char="•"/>
            </a:pPr>
            <a:r>
              <a:rPr lang="en-US" sz="1600" dirty="0">
                <a:latin typeface="Georgia" panose="02040502050405020303" pitchFamily="18" charset="0"/>
              </a:rPr>
              <a:t>Strong transaction activity observed in a few key branches across all account types.</a:t>
            </a:r>
          </a:p>
          <a:p>
            <a:pPr marL="285750" indent="-285750">
              <a:buFont typeface="Arial" panose="020B0604020202020204" pitchFamily="34" charset="0"/>
              <a:buChar char="•"/>
            </a:pPr>
            <a:endParaRPr lang="en-US" sz="1600" dirty="0">
              <a:latin typeface="Georgia" panose="02040502050405020303" pitchFamily="18" charset="0"/>
            </a:endParaRPr>
          </a:p>
          <a:p>
            <a:r>
              <a:rPr lang="en-US" sz="1600" b="1" dirty="0">
                <a:latin typeface="Georgia" panose="02040502050405020303" pitchFamily="18" charset="0"/>
              </a:rPr>
              <a:t>Recommendation:</a:t>
            </a:r>
          </a:p>
          <a:p>
            <a:pPr marL="285750" indent="-285750">
              <a:buFont typeface="Arial" panose="020B0604020202020204" pitchFamily="34" charset="0"/>
              <a:buChar char="•"/>
            </a:pPr>
            <a:endParaRPr lang="en-US" sz="1600" dirty="0">
              <a:latin typeface="Georgia" panose="02040502050405020303" pitchFamily="18" charset="0"/>
            </a:endParaRPr>
          </a:p>
          <a:p>
            <a:pPr marL="285750" indent="-285750">
              <a:buFont typeface="Arial" panose="020B0604020202020204" pitchFamily="34" charset="0"/>
              <a:buChar char="•"/>
            </a:pPr>
            <a:r>
              <a:rPr lang="en-US" sz="1600" dirty="0">
                <a:latin typeface="Georgia" panose="02040502050405020303" pitchFamily="18" charset="0"/>
              </a:rPr>
              <a:t>Implement targeted campaigns around high-activity months like September to boost transactions.</a:t>
            </a:r>
          </a:p>
          <a:p>
            <a:pPr marL="285750" indent="-285750">
              <a:buFont typeface="Arial" panose="020B0604020202020204" pitchFamily="34" charset="0"/>
              <a:buChar char="•"/>
            </a:pPr>
            <a:r>
              <a:rPr lang="en-US" sz="1600" dirty="0">
                <a:latin typeface="Georgia" panose="02040502050405020303" pitchFamily="18" charset="0"/>
              </a:rPr>
              <a:t>Encourage mid-to-high value transactions through incentives or bundled services.</a:t>
            </a:r>
          </a:p>
        </p:txBody>
      </p:sp>
      <p:pic>
        <p:nvPicPr>
          <p:cNvPr id="6" name="Picture 5">
            <a:extLst>
              <a:ext uri="{FF2B5EF4-FFF2-40B4-BE49-F238E27FC236}">
                <a16:creationId xmlns:a16="http://schemas.microsoft.com/office/drawing/2014/main" id="{9304C6D4-C03A-299B-ED44-F4F6D6D21182}"/>
              </a:ext>
            </a:extLst>
          </p:cNvPr>
          <p:cNvPicPr>
            <a:picLocks noChangeAspect="1"/>
          </p:cNvPicPr>
          <p:nvPr/>
        </p:nvPicPr>
        <p:blipFill>
          <a:blip r:embed="rId2"/>
          <a:stretch>
            <a:fillRect/>
          </a:stretch>
        </p:blipFill>
        <p:spPr>
          <a:xfrm>
            <a:off x="2295145" y="842322"/>
            <a:ext cx="4937760" cy="2975410"/>
          </a:xfrm>
          <a:prstGeom prst="rect">
            <a:avLst/>
          </a:prstGeom>
        </p:spPr>
      </p:pic>
      <p:pic>
        <p:nvPicPr>
          <p:cNvPr id="8" name="Picture 7">
            <a:extLst>
              <a:ext uri="{FF2B5EF4-FFF2-40B4-BE49-F238E27FC236}">
                <a16:creationId xmlns:a16="http://schemas.microsoft.com/office/drawing/2014/main" id="{68368655-1D7B-66A9-FB51-64169164BCE3}"/>
              </a:ext>
            </a:extLst>
          </p:cNvPr>
          <p:cNvPicPr>
            <a:picLocks noChangeAspect="1"/>
          </p:cNvPicPr>
          <p:nvPr/>
        </p:nvPicPr>
        <p:blipFill>
          <a:blip r:embed="rId3"/>
          <a:stretch>
            <a:fillRect/>
          </a:stretch>
        </p:blipFill>
        <p:spPr>
          <a:xfrm>
            <a:off x="7509808" y="842323"/>
            <a:ext cx="3914097" cy="2975410"/>
          </a:xfrm>
          <a:prstGeom prst="rect">
            <a:avLst/>
          </a:prstGeom>
        </p:spPr>
      </p:pic>
    </p:spTree>
    <p:extLst>
      <p:ext uri="{BB962C8B-B14F-4D97-AF65-F5344CB8AC3E}">
        <p14:creationId xmlns:p14="http://schemas.microsoft.com/office/powerpoint/2010/main" val="149888720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Title 24" hidden="1">
            <a:extLst>
              <a:ext uri="{FF2B5EF4-FFF2-40B4-BE49-F238E27FC236}">
                <a16:creationId xmlns:a16="http://schemas.microsoft.com/office/drawing/2014/main" id="{24922840-A8AD-427F-889C-2B79CACC872F}"/>
              </a:ext>
            </a:extLst>
          </p:cNvPr>
          <p:cNvSpPr>
            <a:spLocks noGrp="1"/>
          </p:cNvSpPr>
          <p:nvPr>
            <p:ph type="title"/>
          </p:nvPr>
        </p:nvSpPr>
        <p:spPr/>
        <p:txBody>
          <a:bodyPr/>
          <a:lstStyle/>
          <a:p>
            <a:r>
              <a:rPr lang="en-US" dirty="0"/>
              <a:t>Human resources slide 10</a:t>
            </a:r>
          </a:p>
        </p:txBody>
      </p:sp>
      <p:sp>
        <p:nvSpPr>
          <p:cNvPr id="3" name="TextBox 2">
            <a:extLst>
              <a:ext uri="{FF2B5EF4-FFF2-40B4-BE49-F238E27FC236}">
                <a16:creationId xmlns:a16="http://schemas.microsoft.com/office/drawing/2014/main" id="{9436B850-15F2-41BC-A54E-6E0F332F011D}"/>
              </a:ext>
            </a:extLst>
          </p:cNvPr>
          <p:cNvSpPr txBox="1"/>
          <p:nvPr/>
        </p:nvSpPr>
        <p:spPr>
          <a:xfrm>
            <a:off x="733192" y="4331033"/>
            <a:ext cx="4845708" cy="830997"/>
          </a:xfrm>
          <a:prstGeom prst="rect">
            <a:avLst/>
          </a:prstGeom>
          <a:noFill/>
        </p:spPr>
        <p:txBody>
          <a:bodyPr wrap="square" lIns="0" tIns="0" rIns="0" bIns="0" rtlCol="0">
            <a:spAutoFit/>
          </a:bodyPr>
          <a:lstStyle/>
          <a:p>
            <a:r>
              <a:rPr lang="en-US" sz="5400" b="1" dirty="0">
                <a:solidFill>
                  <a:srgbClr val="002060"/>
                </a:solidFill>
                <a:latin typeface="Segoe UI" panose="020B0502040204020203" pitchFamily="34" charset="0"/>
                <a:cs typeface="Segoe UI" panose="020B0502040204020203" pitchFamily="34" charset="0"/>
              </a:rPr>
              <a:t>Thank You</a:t>
            </a:r>
          </a:p>
        </p:txBody>
      </p:sp>
      <p:grpSp>
        <p:nvGrpSpPr>
          <p:cNvPr id="23" name="Group 22" descr="This image is of an abstract shape. ">
            <a:extLst>
              <a:ext uri="{FF2B5EF4-FFF2-40B4-BE49-F238E27FC236}">
                <a16:creationId xmlns:a16="http://schemas.microsoft.com/office/drawing/2014/main" id="{C5C1EC81-7459-4B76-B0C8-CF221BB21A2F}"/>
              </a:ext>
            </a:extLst>
          </p:cNvPr>
          <p:cNvGrpSpPr/>
          <p:nvPr/>
        </p:nvGrpSpPr>
        <p:grpSpPr>
          <a:xfrm>
            <a:off x="4855953" y="-2833465"/>
            <a:ext cx="8948964" cy="12105059"/>
            <a:chOff x="4855953" y="-2833465"/>
            <a:chExt cx="8948964" cy="12105059"/>
          </a:xfrm>
        </p:grpSpPr>
        <p:sp>
          <p:nvSpPr>
            <p:cNvPr id="20" name="Freeform 10">
              <a:extLst>
                <a:ext uri="{FF2B5EF4-FFF2-40B4-BE49-F238E27FC236}">
                  <a16:creationId xmlns:a16="http://schemas.microsoft.com/office/drawing/2014/main" id="{6067105C-8C4E-4F4D-AF25-4E9E7FEE0199}"/>
                </a:ext>
              </a:extLst>
            </p:cNvPr>
            <p:cNvSpPr>
              <a:spLocks/>
            </p:cNvSpPr>
            <p:nvPr/>
          </p:nvSpPr>
          <p:spPr bwMode="auto">
            <a:xfrm rot="9420272">
              <a:off x="4855953" y="-2246936"/>
              <a:ext cx="8673602" cy="11518530"/>
            </a:xfrm>
            <a:custGeom>
              <a:avLst/>
              <a:gdLst>
                <a:gd name="T0" fmla="*/ 1166 w 2492"/>
                <a:gd name="T1" fmla="*/ 2419 h 3315"/>
                <a:gd name="T2" fmla="*/ 243 w 2492"/>
                <a:gd name="T3" fmla="*/ 912 h 3315"/>
                <a:gd name="T4" fmla="*/ 449 w 2492"/>
                <a:gd name="T5" fmla="*/ 15 h 3315"/>
                <a:gd name="T6" fmla="*/ 766 w 2492"/>
                <a:gd name="T7" fmla="*/ 302 h 3315"/>
                <a:gd name="T8" fmla="*/ 1651 w 2492"/>
                <a:gd name="T9" fmla="*/ 481 h 3315"/>
                <a:gd name="T10" fmla="*/ 2239 w 2492"/>
                <a:gd name="T11" fmla="*/ 1238 h 3315"/>
                <a:gd name="T12" fmla="*/ 2186 w 2492"/>
                <a:gd name="T13" fmla="*/ 2201 h 3315"/>
                <a:gd name="T14" fmla="*/ 2165 w 2492"/>
                <a:gd name="T15" fmla="*/ 2928 h 3315"/>
                <a:gd name="T16" fmla="*/ 1400 w 2492"/>
                <a:gd name="T17" fmla="*/ 3100 h 3315"/>
                <a:gd name="T18" fmla="*/ 1166 w 2492"/>
                <a:gd name="T19" fmla="*/ 2419 h 33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492" h="3315">
                  <a:moveTo>
                    <a:pt x="1166" y="2419"/>
                  </a:moveTo>
                  <a:cubicBezTo>
                    <a:pt x="1505" y="1277"/>
                    <a:pt x="486" y="1533"/>
                    <a:pt x="243" y="912"/>
                  </a:cubicBezTo>
                  <a:cubicBezTo>
                    <a:pt x="0" y="292"/>
                    <a:pt x="291" y="31"/>
                    <a:pt x="449" y="15"/>
                  </a:cubicBezTo>
                  <a:cubicBezTo>
                    <a:pt x="607" y="0"/>
                    <a:pt x="716" y="54"/>
                    <a:pt x="766" y="302"/>
                  </a:cubicBezTo>
                  <a:cubicBezTo>
                    <a:pt x="817" y="551"/>
                    <a:pt x="1312" y="508"/>
                    <a:pt x="1651" y="481"/>
                  </a:cubicBezTo>
                  <a:cubicBezTo>
                    <a:pt x="1989" y="454"/>
                    <a:pt x="2492" y="733"/>
                    <a:pt x="2239" y="1238"/>
                  </a:cubicBezTo>
                  <a:cubicBezTo>
                    <a:pt x="1986" y="1743"/>
                    <a:pt x="2000" y="1716"/>
                    <a:pt x="2186" y="2201"/>
                  </a:cubicBezTo>
                  <a:cubicBezTo>
                    <a:pt x="2372" y="2685"/>
                    <a:pt x="2165" y="2928"/>
                    <a:pt x="2165" y="2928"/>
                  </a:cubicBezTo>
                  <a:cubicBezTo>
                    <a:pt x="2165" y="2928"/>
                    <a:pt x="1791" y="3315"/>
                    <a:pt x="1400" y="3100"/>
                  </a:cubicBezTo>
                  <a:cubicBezTo>
                    <a:pt x="1008" y="2885"/>
                    <a:pt x="1166" y="2419"/>
                    <a:pt x="1166" y="2419"/>
                  </a:cubicBezTo>
                  <a:close/>
                </a:path>
              </a:pathLst>
            </a:custGeom>
            <a:gradFill>
              <a:gsLst>
                <a:gs pos="0">
                  <a:srgbClr val="80DEDE"/>
                </a:gs>
                <a:gs pos="53500">
                  <a:srgbClr val="85C1E7"/>
                </a:gs>
                <a:gs pos="100000">
                  <a:srgbClr val="878CFF"/>
                </a:gs>
              </a:gsLst>
              <a:lin ang="5400000" scaled="1"/>
            </a:gradFill>
            <a:ln w="12700" cap="flat">
              <a:noFill/>
              <a:prstDash val="solid"/>
              <a:miter lim="800000"/>
              <a:headEnd/>
              <a:tailEnd/>
            </a:ln>
          </p:spPr>
          <p:txBody>
            <a:bodyPr vert="horz" wrap="square" lIns="91440" tIns="45720" rIns="91440" bIns="45720" numCol="1" anchor="t" anchorCtr="0" compatLnSpc="1">
              <a:prstTxWarp prst="textNoShape">
                <a:avLst/>
              </a:prstTxWarp>
            </a:bodyPr>
            <a:lstStyle/>
            <a:p>
              <a:endParaRPr lang="en-US" dirty="0"/>
            </a:p>
          </p:txBody>
        </p:sp>
        <p:sp>
          <p:nvSpPr>
            <p:cNvPr id="21" name="Freeform 11">
              <a:extLst>
                <a:ext uri="{FF2B5EF4-FFF2-40B4-BE49-F238E27FC236}">
                  <a16:creationId xmlns:a16="http://schemas.microsoft.com/office/drawing/2014/main" id="{70B75532-3E3F-4E79-89ED-8E7671BB9C68}"/>
                </a:ext>
              </a:extLst>
            </p:cNvPr>
            <p:cNvSpPr>
              <a:spLocks/>
            </p:cNvSpPr>
            <p:nvPr/>
          </p:nvSpPr>
          <p:spPr bwMode="auto">
            <a:xfrm rot="9420272">
              <a:off x="5048022" y="-2833465"/>
              <a:ext cx="8756895" cy="10755934"/>
            </a:xfrm>
            <a:custGeom>
              <a:avLst/>
              <a:gdLst>
                <a:gd name="T0" fmla="*/ 1504 w 2516"/>
                <a:gd name="T1" fmla="*/ 2980 h 3095"/>
                <a:gd name="T2" fmla="*/ 2237 w 2516"/>
                <a:gd name="T3" fmla="*/ 2283 h 3095"/>
                <a:gd name="T4" fmla="*/ 1468 w 2516"/>
                <a:gd name="T5" fmla="*/ 1052 h 3095"/>
                <a:gd name="T6" fmla="*/ 979 w 2516"/>
                <a:gd name="T7" fmla="*/ 648 h 3095"/>
                <a:gd name="T8" fmla="*/ 411 w 2516"/>
                <a:gd name="T9" fmla="*/ 195 h 3095"/>
                <a:gd name="T10" fmla="*/ 397 w 2516"/>
                <a:gd name="T11" fmla="*/ 1117 h 3095"/>
                <a:gd name="T12" fmla="*/ 194 w 2516"/>
                <a:gd name="T13" fmla="*/ 1767 h 3095"/>
                <a:gd name="T14" fmla="*/ 866 w 2516"/>
                <a:gd name="T15" fmla="*/ 2349 h 3095"/>
                <a:gd name="T16" fmla="*/ 1275 w 2516"/>
                <a:gd name="T17" fmla="*/ 2766 h 3095"/>
                <a:gd name="T18" fmla="*/ 1504 w 2516"/>
                <a:gd name="T19" fmla="*/ 2980 h 30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516" h="3095">
                  <a:moveTo>
                    <a:pt x="1504" y="2980"/>
                  </a:moveTo>
                  <a:cubicBezTo>
                    <a:pt x="1504" y="2980"/>
                    <a:pt x="1958" y="3095"/>
                    <a:pt x="2237" y="2283"/>
                  </a:cubicBezTo>
                  <a:cubicBezTo>
                    <a:pt x="2516" y="1472"/>
                    <a:pt x="1745" y="1159"/>
                    <a:pt x="1468" y="1052"/>
                  </a:cubicBezTo>
                  <a:cubicBezTo>
                    <a:pt x="1191" y="945"/>
                    <a:pt x="1126" y="907"/>
                    <a:pt x="979" y="648"/>
                  </a:cubicBezTo>
                  <a:cubicBezTo>
                    <a:pt x="832" y="389"/>
                    <a:pt x="822" y="0"/>
                    <a:pt x="411" y="195"/>
                  </a:cubicBezTo>
                  <a:cubicBezTo>
                    <a:pt x="0" y="391"/>
                    <a:pt x="384" y="948"/>
                    <a:pt x="397" y="1117"/>
                  </a:cubicBezTo>
                  <a:cubicBezTo>
                    <a:pt x="411" y="1286"/>
                    <a:pt x="128" y="1580"/>
                    <a:pt x="194" y="1767"/>
                  </a:cubicBezTo>
                  <a:cubicBezTo>
                    <a:pt x="259" y="1954"/>
                    <a:pt x="273" y="2154"/>
                    <a:pt x="866" y="2349"/>
                  </a:cubicBezTo>
                  <a:cubicBezTo>
                    <a:pt x="866" y="2349"/>
                    <a:pt x="1186" y="2374"/>
                    <a:pt x="1275" y="2766"/>
                  </a:cubicBezTo>
                  <a:cubicBezTo>
                    <a:pt x="1275" y="2766"/>
                    <a:pt x="1340" y="2988"/>
                    <a:pt x="1504" y="2980"/>
                  </a:cubicBezTo>
                  <a:close/>
                </a:path>
              </a:pathLst>
            </a:custGeom>
            <a:gradFill>
              <a:gsLst>
                <a:gs pos="0">
                  <a:srgbClr val="7CEFD8"/>
                </a:gs>
                <a:gs pos="51000">
                  <a:srgbClr val="6672E4"/>
                </a:gs>
                <a:gs pos="100000">
                  <a:srgbClr val="882BE5"/>
                </a:gs>
              </a:gsLst>
              <a:lin ang="5400000" scaled="1"/>
            </a:gradFill>
            <a:ln w="12700" cap="flat">
              <a:noFill/>
              <a:prstDash val="solid"/>
              <a:miter lim="800000"/>
              <a:headEnd/>
              <a:tailEnd/>
            </a:ln>
          </p:spPr>
          <p:txBody>
            <a:bodyPr vert="horz" wrap="square" lIns="91440" tIns="45720" rIns="91440" bIns="45720" numCol="1" anchor="t" anchorCtr="0" compatLnSpc="1">
              <a:prstTxWarp prst="textNoShape">
                <a:avLst/>
              </a:prstTxWarp>
            </a:bodyPr>
            <a:lstStyle/>
            <a:p>
              <a:endParaRPr lang="en-US" dirty="0"/>
            </a:p>
          </p:txBody>
        </p:sp>
        <p:sp>
          <p:nvSpPr>
            <p:cNvPr id="22" name="Freeform 12">
              <a:extLst>
                <a:ext uri="{FF2B5EF4-FFF2-40B4-BE49-F238E27FC236}">
                  <a16:creationId xmlns:a16="http://schemas.microsoft.com/office/drawing/2014/main" id="{517F7404-4FD2-4A56-9BC1-55945A2E0042}"/>
                </a:ext>
              </a:extLst>
            </p:cNvPr>
            <p:cNvSpPr>
              <a:spLocks/>
            </p:cNvSpPr>
            <p:nvPr/>
          </p:nvSpPr>
          <p:spPr bwMode="auto">
            <a:xfrm rot="9420272">
              <a:off x="5218811" y="-1993836"/>
              <a:ext cx="7570428" cy="10122905"/>
            </a:xfrm>
            <a:custGeom>
              <a:avLst/>
              <a:gdLst>
                <a:gd name="T0" fmla="*/ 1896 w 2175"/>
                <a:gd name="T1" fmla="*/ 2283 h 2913"/>
                <a:gd name="T2" fmla="*/ 1467 w 2175"/>
                <a:gd name="T3" fmla="*/ 2913 h 2913"/>
                <a:gd name="T4" fmla="*/ 1250 w 2175"/>
                <a:gd name="T5" fmla="*/ 2849 h 2913"/>
                <a:gd name="T6" fmla="*/ 1016 w 2175"/>
                <a:gd name="T7" fmla="*/ 2168 h 2913"/>
                <a:gd name="T8" fmla="*/ 93 w 2175"/>
                <a:gd name="T9" fmla="*/ 661 h 2913"/>
                <a:gd name="T10" fmla="*/ 0 w 2175"/>
                <a:gd name="T11" fmla="*/ 238 h 2913"/>
                <a:gd name="T12" fmla="*/ 70 w 2175"/>
                <a:gd name="T13" fmla="*/ 195 h 2913"/>
                <a:gd name="T14" fmla="*/ 638 w 2175"/>
                <a:gd name="T15" fmla="*/ 648 h 2913"/>
                <a:gd name="T16" fmla="*/ 1127 w 2175"/>
                <a:gd name="T17" fmla="*/ 1052 h 2913"/>
                <a:gd name="T18" fmla="*/ 1896 w 2175"/>
                <a:gd name="T19" fmla="*/ 2283 h 29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175" h="2913">
                  <a:moveTo>
                    <a:pt x="1896" y="2283"/>
                  </a:moveTo>
                  <a:cubicBezTo>
                    <a:pt x="1770" y="2651"/>
                    <a:pt x="1607" y="2829"/>
                    <a:pt x="1467" y="2913"/>
                  </a:cubicBezTo>
                  <a:cubicBezTo>
                    <a:pt x="1397" y="2909"/>
                    <a:pt x="1324" y="2889"/>
                    <a:pt x="1250" y="2849"/>
                  </a:cubicBezTo>
                  <a:cubicBezTo>
                    <a:pt x="858" y="2634"/>
                    <a:pt x="1016" y="2168"/>
                    <a:pt x="1016" y="2168"/>
                  </a:cubicBezTo>
                  <a:cubicBezTo>
                    <a:pt x="1354" y="1026"/>
                    <a:pt x="336" y="1282"/>
                    <a:pt x="93" y="661"/>
                  </a:cubicBezTo>
                  <a:cubicBezTo>
                    <a:pt x="28" y="495"/>
                    <a:pt x="1" y="354"/>
                    <a:pt x="0" y="238"/>
                  </a:cubicBezTo>
                  <a:cubicBezTo>
                    <a:pt x="20" y="222"/>
                    <a:pt x="44" y="208"/>
                    <a:pt x="70" y="195"/>
                  </a:cubicBezTo>
                  <a:cubicBezTo>
                    <a:pt x="481" y="0"/>
                    <a:pt x="491" y="389"/>
                    <a:pt x="638" y="648"/>
                  </a:cubicBezTo>
                  <a:cubicBezTo>
                    <a:pt x="785" y="907"/>
                    <a:pt x="850" y="945"/>
                    <a:pt x="1127" y="1052"/>
                  </a:cubicBezTo>
                  <a:cubicBezTo>
                    <a:pt x="1404" y="1159"/>
                    <a:pt x="2175" y="1472"/>
                    <a:pt x="1896" y="2283"/>
                  </a:cubicBezTo>
                  <a:close/>
                </a:path>
              </a:pathLst>
            </a:custGeom>
            <a:gradFill>
              <a:gsLst>
                <a:gs pos="100000">
                  <a:srgbClr val="7CEFD8"/>
                </a:gs>
                <a:gs pos="19000">
                  <a:srgbClr val="6672E4"/>
                </a:gs>
                <a:gs pos="0">
                  <a:srgbClr val="882BE5"/>
                </a:gs>
              </a:gsLst>
              <a:lin ang="10200000" scaled="0"/>
            </a:gradFill>
            <a:ln w="12700" cap="flat">
              <a:noFill/>
              <a:prstDash val="solid"/>
              <a:miter lim="800000"/>
              <a:headEnd/>
              <a:tailEnd/>
            </a:ln>
          </p:spPr>
          <p:txBody>
            <a:bodyPr vert="horz" wrap="square" lIns="91440" tIns="45720" rIns="91440" bIns="45720" numCol="1" anchor="t" anchorCtr="0" compatLnSpc="1">
              <a:prstTxWarp prst="textNoShape">
                <a:avLst/>
              </a:prstTxWarp>
            </a:bodyPr>
            <a:lstStyle/>
            <a:p>
              <a:endParaRPr lang="en-US" dirty="0"/>
            </a:p>
          </p:txBody>
        </p:sp>
      </p:grpSp>
      <p:grpSp>
        <p:nvGrpSpPr>
          <p:cNvPr id="2" name="Group 1" descr="This image is of an abstract shape. ">
            <a:extLst>
              <a:ext uri="{FF2B5EF4-FFF2-40B4-BE49-F238E27FC236}">
                <a16:creationId xmlns:a16="http://schemas.microsoft.com/office/drawing/2014/main" id="{567F05D7-A1F8-4A9C-678B-934A8E523AFE}"/>
              </a:ext>
            </a:extLst>
          </p:cNvPr>
          <p:cNvGrpSpPr/>
          <p:nvPr/>
        </p:nvGrpSpPr>
        <p:grpSpPr>
          <a:xfrm>
            <a:off x="4955458" y="-2681065"/>
            <a:ext cx="9001859" cy="12105059"/>
            <a:chOff x="4855953" y="-2833465"/>
            <a:chExt cx="8948964" cy="12105059"/>
          </a:xfrm>
        </p:grpSpPr>
        <p:sp>
          <p:nvSpPr>
            <p:cNvPr id="15" name="Freeform 10">
              <a:extLst>
                <a:ext uri="{FF2B5EF4-FFF2-40B4-BE49-F238E27FC236}">
                  <a16:creationId xmlns:a16="http://schemas.microsoft.com/office/drawing/2014/main" id="{8559A20A-180F-F83F-C1CC-069368A2CEEE}"/>
                </a:ext>
              </a:extLst>
            </p:cNvPr>
            <p:cNvSpPr>
              <a:spLocks/>
            </p:cNvSpPr>
            <p:nvPr/>
          </p:nvSpPr>
          <p:spPr bwMode="auto">
            <a:xfrm rot="9420272">
              <a:off x="4855953" y="-2246936"/>
              <a:ext cx="8673602" cy="11518530"/>
            </a:xfrm>
            <a:custGeom>
              <a:avLst/>
              <a:gdLst>
                <a:gd name="T0" fmla="*/ 1166 w 2492"/>
                <a:gd name="T1" fmla="*/ 2419 h 3315"/>
                <a:gd name="T2" fmla="*/ 243 w 2492"/>
                <a:gd name="T3" fmla="*/ 912 h 3315"/>
                <a:gd name="T4" fmla="*/ 449 w 2492"/>
                <a:gd name="T5" fmla="*/ 15 h 3315"/>
                <a:gd name="T6" fmla="*/ 766 w 2492"/>
                <a:gd name="T7" fmla="*/ 302 h 3315"/>
                <a:gd name="T8" fmla="*/ 1651 w 2492"/>
                <a:gd name="T9" fmla="*/ 481 h 3315"/>
                <a:gd name="T10" fmla="*/ 2239 w 2492"/>
                <a:gd name="T11" fmla="*/ 1238 h 3315"/>
                <a:gd name="T12" fmla="*/ 2186 w 2492"/>
                <a:gd name="T13" fmla="*/ 2201 h 3315"/>
                <a:gd name="T14" fmla="*/ 2165 w 2492"/>
                <a:gd name="T15" fmla="*/ 2928 h 3315"/>
                <a:gd name="T16" fmla="*/ 1400 w 2492"/>
                <a:gd name="T17" fmla="*/ 3100 h 3315"/>
                <a:gd name="T18" fmla="*/ 1166 w 2492"/>
                <a:gd name="T19" fmla="*/ 2419 h 33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492" h="3315">
                  <a:moveTo>
                    <a:pt x="1166" y="2419"/>
                  </a:moveTo>
                  <a:cubicBezTo>
                    <a:pt x="1505" y="1277"/>
                    <a:pt x="486" y="1533"/>
                    <a:pt x="243" y="912"/>
                  </a:cubicBezTo>
                  <a:cubicBezTo>
                    <a:pt x="0" y="292"/>
                    <a:pt x="291" y="31"/>
                    <a:pt x="449" y="15"/>
                  </a:cubicBezTo>
                  <a:cubicBezTo>
                    <a:pt x="607" y="0"/>
                    <a:pt x="716" y="54"/>
                    <a:pt x="766" y="302"/>
                  </a:cubicBezTo>
                  <a:cubicBezTo>
                    <a:pt x="817" y="551"/>
                    <a:pt x="1312" y="508"/>
                    <a:pt x="1651" y="481"/>
                  </a:cubicBezTo>
                  <a:cubicBezTo>
                    <a:pt x="1989" y="454"/>
                    <a:pt x="2492" y="733"/>
                    <a:pt x="2239" y="1238"/>
                  </a:cubicBezTo>
                  <a:cubicBezTo>
                    <a:pt x="1986" y="1743"/>
                    <a:pt x="2000" y="1716"/>
                    <a:pt x="2186" y="2201"/>
                  </a:cubicBezTo>
                  <a:cubicBezTo>
                    <a:pt x="2372" y="2685"/>
                    <a:pt x="2165" y="2928"/>
                    <a:pt x="2165" y="2928"/>
                  </a:cubicBezTo>
                  <a:cubicBezTo>
                    <a:pt x="2165" y="2928"/>
                    <a:pt x="1791" y="3315"/>
                    <a:pt x="1400" y="3100"/>
                  </a:cubicBezTo>
                  <a:cubicBezTo>
                    <a:pt x="1008" y="2885"/>
                    <a:pt x="1166" y="2419"/>
                    <a:pt x="1166" y="2419"/>
                  </a:cubicBezTo>
                  <a:close/>
                </a:path>
              </a:pathLst>
            </a:custGeom>
            <a:gradFill>
              <a:gsLst>
                <a:gs pos="0">
                  <a:srgbClr val="80DEDE"/>
                </a:gs>
                <a:gs pos="53500">
                  <a:srgbClr val="85C1E7"/>
                </a:gs>
                <a:gs pos="100000">
                  <a:srgbClr val="878CFF"/>
                </a:gs>
              </a:gsLst>
              <a:lin ang="5400000" scaled="1"/>
            </a:gradFill>
            <a:ln w="12700" cap="flat">
              <a:noFill/>
              <a:prstDash val="solid"/>
              <a:miter lim="800000"/>
              <a:headEnd/>
              <a:tailEnd/>
            </a:ln>
          </p:spPr>
          <p:txBody>
            <a:bodyPr vert="horz" wrap="square" lIns="91440" tIns="45720" rIns="91440" bIns="45720" numCol="1" anchor="t" anchorCtr="0" compatLnSpc="1">
              <a:prstTxWarp prst="textNoShape">
                <a:avLst/>
              </a:prstTxWarp>
            </a:bodyPr>
            <a:lstStyle/>
            <a:p>
              <a:endParaRPr lang="en-US" dirty="0"/>
            </a:p>
          </p:txBody>
        </p:sp>
        <p:sp>
          <p:nvSpPr>
            <p:cNvPr id="16" name="Freeform 11">
              <a:extLst>
                <a:ext uri="{FF2B5EF4-FFF2-40B4-BE49-F238E27FC236}">
                  <a16:creationId xmlns:a16="http://schemas.microsoft.com/office/drawing/2014/main" id="{00DF7172-E32B-15A3-9AC9-1970341BCBAB}"/>
                </a:ext>
              </a:extLst>
            </p:cNvPr>
            <p:cNvSpPr>
              <a:spLocks/>
            </p:cNvSpPr>
            <p:nvPr/>
          </p:nvSpPr>
          <p:spPr bwMode="auto">
            <a:xfrm rot="9420272">
              <a:off x="5048022" y="-2833465"/>
              <a:ext cx="8756895" cy="10755934"/>
            </a:xfrm>
            <a:custGeom>
              <a:avLst/>
              <a:gdLst>
                <a:gd name="T0" fmla="*/ 1504 w 2516"/>
                <a:gd name="T1" fmla="*/ 2980 h 3095"/>
                <a:gd name="T2" fmla="*/ 2237 w 2516"/>
                <a:gd name="T3" fmla="*/ 2283 h 3095"/>
                <a:gd name="T4" fmla="*/ 1468 w 2516"/>
                <a:gd name="T5" fmla="*/ 1052 h 3095"/>
                <a:gd name="T6" fmla="*/ 979 w 2516"/>
                <a:gd name="T7" fmla="*/ 648 h 3095"/>
                <a:gd name="T8" fmla="*/ 411 w 2516"/>
                <a:gd name="T9" fmla="*/ 195 h 3095"/>
                <a:gd name="T10" fmla="*/ 397 w 2516"/>
                <a:gd name="T11" fmla="*/ 1117 h 3095"/>
                <a:gd name="T12" fmla="*/ 194 w 2516"/>
                <a:gd name="T13" fmla="*/ 1767 h 3095"/>
                <a:gd name="T14" fmla="*/ 866 w 2516"/>
                <a:gd name="T15" fmla="*/ 2349 h 3095"/>
                <a:gd name="T16" fmla="*/ 1275 w 2516"/>
                <a:gd name="T17" fmla="*/ 2766 h 3095"/>
                <a:gd name="T18" fmla="*/ 1504 w 2516"/>
                <a:gd name="T19" fmla="*/ 2980 h 30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516" h="3095">
                  <a:moveTo>
                    <a:pt x="1504" y="2980"/>
                  </a:moveTo>
                  <a:cubicBezTo>
                    <a:pt x="1504" y="2980"/>
                    <a:pt x="1958" y="3095"/>
                    <a:pt x="2237" y="2283"/>
                  </a:cubicBezTo>
                  <a:cubicBezTo>
                    <a:pt x="2516" y="1472"/>
                    <a:pt x="1745" y="1159"/>
                    <a:pt x="1468" y="1052"/>
                  </a:cubicBezTo>
                  <a:cubicBezTo>
                    <a:pt x="1191" y="945"/>
                    <a:pt x="1126" y="907"/>
                    <a:pt x="979" y="648"/>
                  </a:cubicBezTo>
                  <a:cubicBezTo>
                    <a:pt x="832" y="389"/>
                    <a:pt x="822" y="0"/>
                    <a:pt x="411" y="195"/>
                  </a:cubicBezTo>
                  <a:cubicBezTo>
                    <a:pt x="0" y="391"/>
                    <a:pt x="384" y="948"/>
                    <a:pt x="397" y="1117"/>
                  </a:cubicBezTo>
                  <a:cubicBezTo>
                    <a:pt x="411" y="1286"/>
                    <a:pt x="128" y="1580"/>
                    <a:pt x="194" y="1767"/>
                  </a:cubicBezTo>
                  <a:cubicBezTo>
                    <a:pt x="259" y="1954"/>
                    <a:pt x="273" y="2154"/>
                    <a:pt x="866" y="2349"/>
                  </a:cubicBezTo>
                  <a:cubicBezTo>
                    <a:pt x="866" y="2349"/>
                    <a:pt x="1186" y="2374"/>
                    <a:pt x="1275" y="2766"/>
                  </a:cubicBezTo>
                  <a:cubicBezTo>
                    <a:pt x="1275" y="2766"/>
                    <a:pt x="1340" y="2988"/>
                    <a:pt x="1504" y="2980"/>
                  </a:cubicBezTo>
                  <a:close/>
                </a:path>
              </a:pathLst>
            </a:custGeom>
            <a:gradFill>
              <a:gsLst>
                <a:gs pos="0">
                  <a:srgbClr val="7CEFD8"/>
                </a:gs>
                <a:gs pos="51000">
                  <a:srgbClr val="6672E4"/>
                </a:gs>
                <a:gs pos="100000">
                  <a:srgbClr val="882BE5"/>
                </a:gs>
              </a:gsLst>
              <a:lin ang="5400000" scaled="1"/>
            </a:gradFill>
            <a:ln w="12700" cap="flat">
              <a:noFill/>
              <a:prstDash val="solid"/>
              <a:miter lim="800000"/>
              <a:headEnd/>
              <a:tailEnd/>
            </a:ln>
          </p:spPr>
          <p:txBody>
            <a:bodyPr vert="horz" wrap="square" lIns="91440" tIns="45720" rIns="91440" bIns="45720" numCol="1" anchor="t" anchorCtr="0" compatLnSpc="1">
              <a:prstTxWarp prst="textNoShape">
                <a:avLst/>
              </a:prstTxWarp>
            </a:bodyPr>
            <a:lstStyle/>
            <a:p>
              <a:endParaRPr lang="en-US" dirty="0"/>
            </a:p>
          </p:txBody>
        </p:sp>
        <p:sp>
          <p:nvSpPr>
            <p:cNvPr id="17" name="Freeform 12">
              <a:extLst>
                <a:ext uri="{FF2B5EF4-FFF2-40B4-BE49-F238E27FC236}">
                  <a16:creationId xmlns:a16="http://schemas.microsoft.com/office/drawing/2014/main" id="{06C38838-A03A-4027-B710-F75D0827FF0A}"/>
                </a:ext>
              </a:extLst>
            </p:cNvPr>
            <p:cNvSpPr>
              <a:spLocks/>
            </p:cNvSpPr>
            <p:nvPr/>
          </p:nvSpPr>
          <p:spPr bwMode="auto">
            <a:xfrm rot="9420272">
              <a:off x="5218811" y="-1993836"/>
              <a:ext cx="7570428" cy="10122905"/>
            </a:xfrm>
            <a:custGeom>
              <a:avLst/>
              <a:gdLst>
                <a:gd name="T0" fmla="*/ 1896 w 2175"/>
                <a:gd name="T1" fmla="*/ 2283 h 2913"/>
                <a:gd name="T2" fmla="*/ 1467 w 2175"/>
                <a:gd name="T3" fmla="*/ 2913 h 2913"/>
                <a:gd name="T4" fmla="*/ 1250 w 2175"/>
                <a:gd name="T5" fmla="*/ 2849 h 2913"/>
                <a:gd name="T6" fmla="*/ 1016 w 2175"/>
                <a:gd name="T7" fmla="*/ 2168 h 2913"/>
                <a:gd name="T8" fmla="*/ 93 w 2175"/>
                <a:gd name="T9" fmla="*/ 661 h 2913"/>
                <a:gd name="T10" fmla="*/ 0 w 2175"/>
                <a:gd name="T11" fmla="*/ 238 h 2913"/>
                <a:gd name="T12" fmla="*/ 70 w 2175"/>
                <a:gd name="T13" fmla="*/ 195 h 2913"/>
                <a:gd name="T14" fmla="*/ 638 w 2175"/>
                <a:gd name="T15" fmla="*/ 648 h 2913"/>
                <a:gd name="T16" fmla="*/ 1127 w 2175"/>
                <a:gd name="T17" fmla="*/ 1052 h 2913"/>
                <a:gd name="T18" fmla="*/ 1896 w 2175"/>
                <a:gd name="T19" fmla="*/ 2283 h 29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175" h="2913">
                  <a:moveTo>
                    <a:pt x="1896" y="2283"/>
                  </a:moveTo>
                  <a:cubicBezTo>
                    <a:pt x="1770" y="2651"/>
                    <a:pt x="1607" y="2829"/>
                    <a:pt x="1467" y="2913"/>
                  </a:cubicBezTo>
                  <a:cubicBezTo>
                    <a:pt x="1397" y="2909"/>
                    <a:pt x="1324" y="2889"/>
                    <a:pt x="1250" y="2849"/>
                  </a:cubicBezTo>
                  <a:cubicBezTo>
                    <a:pt x="858" y="2634"/>
                    <a:pt x="1016" y="2168"/>
                    <a:pt x="1016" y="2168"/>
                  </a:cubicBezTo>
                  <a:cubicBezTo>
                    <a:pt x="1354" y="1026"/>
                    <a:pt x="336" y="1282"/>
                    <a:pt x="93" y="661"/>
                  </a:cubicBezTo>
                  <a:cubicBezTo>
                    <a:pt x="28" y="495"/>
                    <a:pt x="1" y="354"/>
                    <a:pt x="0" y="238"/>
                  </a:cubicBezTo>
                  <a:cubicBezTo>
                    <a:pt x="20" y="222"/>
                    <a:pt x="44" y="208"/>
                    <a:pt x="70" y="195"/>
                  </a:cubicBezTo>
                  <a:cubicBezTo>
                    <a:pt x="481" y="0"/>
                    <a:pt x="491" y="389"/>
                    <a:pt x="638" y="648"/>
                  </a:cubicBezTo>
                  <a:cubicBezTo>
                    <a:pt x="785" y="907"/>
                    <a:pt x="850" y="945"/>
                    <a:pt x="1127" y="1052"/>
                  </a:cubicBezTo>
                  <a:cubicBezTo>
                    <a:pt x="1404" y="1159"/>
                    <a:pt x="2175" y="1472"/>
                    <a:pt x="1896" y="2283"/>
                  </a:cubicBezTo>
                  <a:close/>
                </a:path>
              </a:pathLst>
            </a:custGeom>
            <a:gradFill>
              <a:gsLst>
                <a:gs pos="100000">
                  <a:srgbClr val="7CEFD8"/>
                </a:gs>
                <a:gs pos="19000">
                  <a:srgbClr val="6672E4"/>
                </a:gs>
                <a:gs pos="0">
                  <a:srgbClr val="882BE5"/>
                </a:gs>
              </a:gsLst>
              <a:lin ang="10200000" scaled="0"/>
            </a:gradFill>
            <a:ln w="12700" cap="flat">
              <a:noFill/>
              <a:prstDash val="solid"/>
              <a:miter lim="800000"/>
              <a:headEnd/>
              <a:tailEnd/>
            </a:ln>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235256857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f33668227_win32_fixed" id="{17DD1A52-D3DE-4BC7-AB4E-5ED952CBB3F4}" vid="{D8C85220-06A0-4E3D-954C-BC12E2647BFB}"/>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4" ma:contentTypeDescription="Create a new document." ma:contentTypeScope="" ma:versionID="2d714a3296df14eba7a100bb665443ca">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49549bf45bfbbfb6cffed527380e77e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Props1.xml><?xml version="1.0" encoding="utf-8"?>
<ds:datastoreItem xmlns:ds="http://schemas.openxmlformats.org/officeDocument/2006/customXml" ds:itemID="{10CA4BDF-ECBC-4F8E-8F31-E58428FA4B7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271421E6-0B73-4301-8D1C-0131DB42FA7F}">
  <ds:schemaRefs>
    <ds:schemaRef ds:uri="http://schemas.microsoft.com/sharepoint/v3/contenttype/forms"/>
  </ds:schemaRefs>
</ds:datastoreItem>
</file>

<file path=customXml/itemProps3.xml><?xml version="1.0" encoding="utf-8"?>
<ds:datastoreItem xmlns:ds="http://schemas.openxmlformats.org/officeDocument/2006/customXml" ds:itemID="{89900F64-9193-44F8-BD63-E681103777C8}">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docProps/app.xml><?xml version="1.0" encoding="utf-8"?>
<Properties xmlns="http://schemas.openxmlformats.org/officeDocument/2006/extended-properties" xmlns:vt="http://schemas.openxmlformats.org/officeDocument/2006/docPropsVTypes">
  <Template/>
  <TotalTime>0</TotalTime>
  <Words>422</Words>
  <Application>Microsoft Office PowerPoint</Application>
  <PresentationFormat>Widescreen</PresentationFormat>
  <Paragraphs>56</Paragraphs>
  <Slides>6</Slides>
  <Notes>4</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6</vt:i4>
      </vt:variant>
    </vt:vector>
  </HeadingPairs>
  <TitlesOfParts>
    <vt:vector size="12" baseType="lpstr">
      <vt:lpstr>Arial</vt:lpstr>
      <vt:lpstr>Calibri</vt:lpstr>
      <vt:lpstr>Calibri Light</vt:lpstr>
      <vt:lpstr>Georgia</vt:lpstr>
      <vt:lpstr>Segoe UI</vt:lpstr>
      <vt:lpstr>Office Theme</vt:lpstr>
      <vt:lpstr>Human resources slide 1</vt:lpstr>
      <vt:lpstr>Human resources slide 9</vt:lpstr>
      <vt:lpstr>BRANCH PERFORMANCE</vt:lpstr>
      <vt:lpstr>CUSTOMER INSIGHTS</vt:lpstr>
      <vt:lpstr>Transaction Overview</vt:lpstr>
      <vt:lpstr>Human resources slide 10</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2022-01-19T22:30:16Z</dcterms:created>
  <dcterms:modified xsi:type="dcterms:W3CDTF">2025-04-14T05:56:20Z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